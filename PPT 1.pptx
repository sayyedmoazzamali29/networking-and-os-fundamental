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F5A6E-5D15-48A5-885C-C9FA099EE3E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7C8C1-533A-42B4-9545-A3D11048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2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B7C8C1-533A-42B4-9545-A3D11048E9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5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B7C8C1-533A-42B4-9545-A3D11048E9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64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B7C8C1-533A-42B4-9545-A3D11048E9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17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37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5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5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2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9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27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17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08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2824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02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3019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68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3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54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6A743-65CD-47AF-A932-E159AC1C6CD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449A063-D57C-4C7A-A6FC-51316497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12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,you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geeksforgeeks.org/ethical-hacking/how-address-resolution-protocol-arp-work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32586" y="489396"/>
            <a:ext cx="9556124" cy="2511380"/>
          </a:xfrm>
        </p:spPr>
        <p:txBody>
          <a:bodyPr>
            <a:normAutofit/>
          </a:bodyPr>
          <a:lstStyle/>
          <a:p>
            <a:r>
              <a:rPr lang="en-IN" sz="3600" b="1" dirty="0" smtClean="0"/>
              <a:t>Networking </a:t>
            </a:r>
            <a:r>
              <a:rPr lang="en-IN" sz="3600" b="1" dirty="0"/>
              <a:t>And OS Fundamentals 11.0</a:t>
            </a:r>
            <a:endParaRPr lang="en-US" sz="3600" b="1" dirty="0"/>
          </a:p>
        </p:txBody>
      </p:sp>
      <p:pic>
        <p:nvPicPr>
          <p:cNvPr id="1026" name="Picture 2" descr="Networking Fundamentals for Beginners: Complete Guide | by Ifeoma Nwokeoma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229" y="2438400"/>
            <a:ext cx="4689795" cy="406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etworking Essentia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537" y="1790675"/>
            <a:ext cx="4487022" cy="349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1262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41647" y="110912"/>
            <a:ext cx="8057321" cy="66756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menianMaralSSK" panose="00000700000000000000" pitchFamily="2" charset="0"/>
              </a:rPr>
              <a:t>Networking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2876" y="778476"/>
            <a:ext cx="10144897" cy="6240163"/>
          </a:xfrm>
        </p:spPr>
        <p:txBody>
          <a:bodyPr/>
          <a:lstStyle/>
          <a:p>
            <a:r>
              <a:rPr lang="en-IN" b="1" dirty="0">
                <a:latin typeface="+mj-lt"/>
              </a:rPr>
              <a:t>Networking fundamentals means learning the </a:t>
            </a:r>
            <a:r>
              <a:rPr lang="en-IN" b="1" u="sng" dirty="0">
                <a:latin typeface="+mj-lt"/>
              </a:rPr>
              <a:t>basic concepts of how computers and devices communicate </a:t>
            </a:r>
            <a:r>
              <a:rPr lang="en-IN" b="1" dirty="0">
                <a:latin typeface="+mj-lt"/>
              </a:rPr>
              <a:t>with each other</a:t>
            </a:r>
            <a:r>
              <a:rPr lang="en-IN" b="1" dirty="0">
                <a:latin typeface="Algerian" panose="04020705040A02060702" pitchFamily="82" charset="0"/>
              </a:rPr>
              <a:t>. </a:t>
            </a:r>
            <a:endParaRPr lang="en-IN" b="1" dirty="0" smtClean="0">
              <a:latin typeface="Algerian" panose="04020705040A02060702" pitchFamily="82" charset="0"/>
            </a:endParaRPr>
          </a:p>
          <a:p>
            <a:r>
              <a:rPr lang="en-US" b="1" dirty="0"/>
              <a:t>For example: </a:t>
            </a:r>
            <a:r>
              <a:rPr lang="en-US" b="1" dirty="0" smtClean="0"/>
              <a:t>Sharing </a:t>
            </a:r>
            <a:r>
              <a:rPr lang="en-US" b="1" dirty="0"/>
              <a:t>files between </a:t>
            </a:r>
            <a:r>
              <a:rPr lang="en-US" b="1" dirty="0" smtClean="0"/>
              <a:t>computers</a:t>
            </a:r>
          </a:p>
          <a:p>
            <a:r>
              <a:rPr lang="en-IN" b="1" dirty="0"/>
              <a:t>                       </a:t>
            </a:r>
            <a:r>
              <a:rPr lang="en-IN" b="1" dirty="0" smtClean="0"/>
              <a:t>Connecting </a:t>
            </a:r>
            <a:r>
              <a:rPr lang="en-IN" b="1" dirty="0"/>
              <a:t>devices in a </a:t>
            </a:r>
            <a:r>
              <a:rPr lang="en-IN" b="1" dirty="0" smtClean="0"/>
              <a:t>network</a:t>
            </a:r>
          </a:p>
          <a:p>
            <a:r>
              <a:rPr lang="en-IN" dirty="0" smtClean="0"/>
              <a:t> </a:t>
            </a:r>
            <a:r>
              <a:rPr lang="en-IN" sz="2400" dirty="0" smtClean="0"/>
              <a:t>                     </a:t>
            </a:r>
          </a:p>
          <a:p>
            <a:r>
              <a:rPr lang="en-IN" sz="2400" dirty="0"/>
              <a:t> </a:t>
            </a:r>
            <a:r>
              <a:rPr lang="en-IN" sz="2400" dirty="0" smtClean="0"/>
              <a:t>                     </a:t>
            </a:r>
            <a:r>
              <a:rPr lang="en-US" sz="2800" dirty="0" smtClean="0">
                <a:solidFill>
                  <a:srgbClr val="FF0000"/>
                </a:solidFill>
                <a:latin typeface="AmenianMaralSSK" panose="00000700000000000000" pitchFamily="2" charset="0"/>
              </a:rPr>
              <a:t>What is Network: </a:t>
            </a:r>
          </a:p>
          <a:p>
            <a:r>
              <a:rPr lang="en-IN" sz="1600" b="1" dirty="0" smtClean="0"/>
              <a:t>A </a:t>
            </a:r>
            <a:r>
              <a:rPr lang="en-IN" sz="1600" b="1" dirty="0"/>
              <a:t>computer network is a system of </a:t>
            </a:r>
            <a:r>
              <a:rPr lang="en-IN" sz="1600" b="1" u="sng" dirty="0"/>
              <a:t>interconnected computing devices that communicate </a:t>
            </a:r>
            <a:r>
              <a:rPr lang="en-IN" sz="1600" b="1" dirty="0"/>
              <a:t>with each other to share data, resources, and services</a:t>
            </a:r>
            <a:r>
              <a:rPr lang="en-IN" sz="1600" b="1" dirty="0" smtClean="0"/>
              <a:t>.</a:t>
            </a:r>
          </a:p>
          <a:p>
            <a:r>
              <a:rPr lang="en-US" sz="1600" b="1" dirty="0" smtClean="0">
                <a:latin typeface="AmenianMaralSSK" panose="00000700000000000000" pitchFamily="2" charset="0"/>
              </a:rPr>
              <a:t>                 </a:t>
            </a:r>
          </a:p>
          <a:p>
            <a:r>
              <a:rPr lang="en-US" sz="1600" b="1" dirty="0">
                <a:solidFill>
                  <a:srgbClr val="FF0000"/>
                </a:solidFill>
                <a:latin typeface="AmenianMaralSSK" panose="00000700000000000000" pitchFamily="2" charset="0"/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latin typeface="AmenianMaralSSK" panose="00000700000000000000" pitchFamily="2" charset="0"/>
              </a:rPr>
              <a:t>                     </a:t>
            </a:r>
            <a:r>
              <a:rPr lang="en-US" sz="2400" b="1" dirty="0" smtClean="0">
                <a:solidFill>
                  <a:srgbClr val="FF0000"/>
                </a:solidFill>
                <a:latin typeface="AmenianMaralSSK" panose="00000700000000000000" pitchFamily="2" charset="0"/>
              </a:rPr>
              <a:t>How </a:t>
            </a:r>
            <a:r>
              <a:rPr lang="en-US" sz="2400" b="1" dirty="0">
                <a:solidFill>
                  <a:srgbClr val="FF0000"/>
                </a:solidFill>
                <a:latin typeface="AmenianMaralSSK" panose="00000700000000000000" pitchFamily="2" charset="0"/>
              </a:rPr>
              <a:t>Networks </a:t>
            </a:r>
            <a:r>
              <a:rPr lang="en-US" sz="2400" b="1" dirty="0" smtClean="0">
                <a:solidFill>
                  <a:srgbClr val="FF0000"/>
                </a:solidFill>
                <a:latin typeface="AmenianMaralSSK" panose="00000700000000000000" pitchFamily="2" charset="0"/>
              </a:rPr>
              <a:t>Work</a:t>
            </a:r>
          </a:p>
          <a:p>
            <a:r>
              <a:rPr lang="en-IN" sz="1600" b="1" dirty="0"/>
              <a:t>Nodes:</a:t>
            </a:r>
            <a:r>
              <a:rPr lang="en-IN" sz="1600" dirty="0"/>
              <a:t> Devices like computers, phones, or printers that send and receive data.</a:t>
            </a:r>
            <a:endParaRPr lang="en-US" sz="1600" dirty="0" smtClean="0">
              <a:latin typeface="AmenianMaralSSK" panose="00000700000000000000" pitchFamily="2" charset="0"/>
            </a:endParaRPr>
          </a:p>
          <a:p>
            <a:r>
              <a:rPr lang="en-IN" sz="1600" b="1" dirty="0"/>
              <a:t>Links:</a:t>
            </a:r>
            <a:r>
              <a:rPr lang="en-IN" sz="1600" dirty="0"/>
              <a:t> Connections that can be wired (cables) or wireless (Wi-Fi</a:t>
            </a:r>
            <a:r>
              <a:rPr lang="en-IN" sz="1600" dirty="0" smtClean="0"/>
              <a:t>).</a:t>
            </a:r>
            <a:r>
              <a:rPr lang="en-IN" sz="1600" b="1" dirty="0"/>
              <a:t> </a:t>
            </a:r>
            <a:endParaRPr lang="en-IN" sz="1600" b="1" dirty="0" smtClean="0"/>
          </a:p>
          <a:p>
            <a:r>
              <a:rPr lang="en-IN" sz="1600" b="1" dirty="0" smtClean="0"/>
              <a:t>Protocols</a:t>
            </a:r>
            <a:r>
              <a:rPr lang="en-IN" sz="1600" b="1" dirty="0"/>
              <a:t>:</a:t>
            </a:r>
            <a:r>
              <a:rPr lang="en-IN" sz="1600" dirty="0"/>
              <a:t> Standard rules that control how data moves across the network</a:t>
            </a:r>
            <a:r>
              <a:rPr lang="en-IN" sz="1600" dirty="0" smtClean="0"/>
              <a:t>.</a:t>
            </a:r>
            <a:endParaRPr lang="en-IN" sz="1600" dirty="0" smtClean="0">
              <a:latin typeface="AmenianMaralSSK" panose="00000700000000000000" pitchFamily="2" charset="0"/>
            </a:endParaRPr>
          </a:p>
          <a:p>
            <a:r>
              <a:rPr lang="en-IN" sz="1400" b="1" dirty="0"/>
              <a:t>Hardware:</a:t>
            </a:r>
            <a:r>
              <a:rPr lang="en-IN" sz="1400" dirty="0"/>
              <a:t> Devices like </a:t>
            </a:r>
            <a:r>
              <a:rPr lang="en-IN" sz="1400" dirty="0" smtClean="0"/>
              <a:t>routers and switches that </a:t>
            </a:r>
            <a:r>
              <a:rPr lang="en-IN" sz="1400" dirty="0"/>
              <a:t>direct traffic to the </a:t>
            </a:r>
            <a:r>
              <a:rPr lang="en-IN" sz="1400" dirty="0" smtClean="0"/>
              <a:t>right place</a:t>
            </a:r>
            <a:r>
              <a:rPr lang="en-IN" sz="1400" dirty="0" smtClean="0">
                <a:latin typeface="AmenianMaralSSK" panose="00000700000000000000" pitchFamily="2" charset="0"/>
              </a:rPr>
              <a:t> 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908313" y="1744049"/>
            <a:ext cx="495631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712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809" y="63018"/>
            <a:ext cx="9898234" cy="654908"/>
          </a:xfrm>
        </p:spPr>
        <p:txBody>
          <a:bodyPr>
            <a:noAutofit/>
          </a:bodyPr>
          <a:lstStyle/>
          <a:p>
            <a:r>
              <a:rPr lang="en-IN" sz="2800" dirty="0" smtClean="0">
                <a:latin typeface="AmenianMaralSSK" panose="00000700000000000000" pitchFamily="2" charset="0"/>
              </a:rPr>
              <a:t>Types of Network</a:t>
            </a:r>
            <a:br>
              <a:rPr lang="en-IN" sz="2800" dirty="0" smtClean="0">
                <a:latin typeface="AmenianMaralSSK" panose="00000700000000000000" pitchFamily="2" charset="0"/>
              </a:rPr>
            </a:br>
            <a:r>
              <a:rPr lang="en-IN" sz="2800" dirty="0" smtClean="0">
                <a:latin typeface="AmenianMaralSSK" panose="00000700000000000000" pitchFamily="2" charset="0"/>
              </a:rPr>
              <a:t/>
            </a:r>
            <a:br>
              <a:rPr lang="en-IN" sz="2800" dirty="0" smtClean="0">
                <a:latin typeface="AmenianMaralSSK" panose="00000700000000000000" pitchFamily="2" charset="0"/>
              </a:rPr>
            </a:br>
            <a:r>
              <a:rPr lang="en-IN" sz="2800" dirty="0">
                <a:latin typeface="AmenianMaralSSK" panose="00000700000000000000" pitchFamily="2" charset="0"/>
              </a:rPr>
              <a:t/>
            </a:r>
            <a:br>
              <a:rPr lang="en-IN" sz="2800" dirty="0">
                <a:latin typeface="AmenianMaralSSK" panose="00000700000000000000" pitchFamily="2" charset="0"/>
              </a:rPr>
            </a:br>
            <a:r>
              <a:rPr lang="en-IN" sz="2800" dirty="0" smtClean="0">
                <a:latin typeface="AmenianMaralSSK" panose="00000700000000000000" pitchFamily="2" charset="0"/>
              </a:rPr>
              <a:t/>
            </a:r>
            <a:br>
              <a:rPr lang="en-IN" sz="2800" dirty="0" smtClean="0">
                <a:latin typeface="AmenianMaralSSK" panose="00000700000000000000" pitchFamily="2" charset="0"/>
              </a:rPr>
            </a:br>
            <a:r>
              <a:rPr lang="en-IN" sz="2800" dirty="0">
                <a:latin typeface="AmenianMaralSSK" panose="00000700000000000000" pitchFamily="2" charset="0"/>
              </a:rPr>
              <a:t/>
            </a:r>
            <a:br>
              <a:rPr lang="en-IN" sz="2800" dirty="0">
                <a:latin typeface="AmenianMaralSSK" panose="00000700000000000000" pitchFamily="2" charset="0"/>
              </a:rPr>
            </a:br>
            <a:r>
              <a:rPr lang="en-IN" sz="2800" dirty="0" smtClean="0">
                <a:latin typeface="AmenianMaralSSK" panose="00000700000000000000" pitchFamily="2" charset="0"/>
              </a:rPr>
              <a:t/>
            </a:r>
            <a:br>
              <a:rPr lang="en-IN" sz="2800" dirty="0" smtClean="0">
                <a:latin typeface="AmenianMaralSSK" panose="00000700000000000000" pitchFamily="2" charset="0"/>
              </a:rPr>
            </a:br>
            <a:r>
              <a:rPr lang="en-IN" sz="2800" dirty="0">
                <a:latin typeface="AmenianMaralSSK" panose="00000700000000000000" pitchFamily="2" charset="0"/>
              </a:rPr>
              <a:t/>
            </a:r>
            <a:br>
              <a:rPr lang="en-IN" sz="2800" dirty="0">
                <a:latin typeface="AmenianMaralSSK" panose="00000700000000000000" pitchFamily="2" charset="0"/>
              </a:rPr>
            </a:br>
            <a:r>
              <a:rPr lang="en-IN" sz="2800" dirty="0" smtClean="0">
                <a:latin typeface="AmenianMaralSSK" panose="00000700000000000000" pitchFamily="2" charset="0"/>
              </a:rPr>
              <a:t/>
            </a:r>
            <a:br>
              <a:rPr lang="en-IN" sz="2800" dirty="0" smtClean="0">
                <a:latin typeface="AmenianMaralSSK" panose="00000700000000000000" pitchFamily="2" charset="0"/>
              </a:rPr>
            </a:br>
            <a:r>
              <a:rPr lang="en-IN" sz="2800" dirty="0">
                <a:latin typeface="AmenianMaralSSK" panose="00000700000000000000" pitchFamily="2" charset="0"/>
              </a:rPr>
              <a:t/>
            </a:r>
            <a:br>
              <a:rPr lang="en-IN" sz="2800" dirty="0">
                <a:latin typeface="AmenianMaralSSK" panose="00000700000000000000" pitchFamily="2" charset="0"/>
              </a:rPr>
            </a:br>
            <a:r>
              <a:rPr lang="en-IN" sz="2800" dirty="0" smtClean="0">
                <a:latin typeface="AmenianMaralSSK" panose="00000700000000000000" pitchFamily="2" charset="0"/>
              </a:rPr>
              <a:t>  </a:t>
            </a:r>
            <a:endParaRPr lang="en-US" sz="2800" dirty="0">
              <a:latin typeface="AmenianMaralSSK" panose="000007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10800000" flipV="1">
            <a:off x="1690538" y="717926"/>
            <a:ext cx="10128422" cy="5453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 smtClean="0"/>
              <a:t>PAN</a:t>
            </a:r>
            <a:r>
              <a:rPr lang="en-IN" u="sng" dirty="0" smtClean="0"/>
              <a:t> </a:t>
            </a:r>
            <a:r>
              <a:rPr lang="en-IN" u="sng" dirty="0"/>
              <a:t>(</a:t>
            </a:r>
            <a:r>
              <a:rPr lang="en-IN" u="sng" dirty="0" smtClean="0">
                <a:latin typeface="AmenianMaralSSK" panose="00000700000000000000" pitchFamily="2" charset="0"/>
              </a:rPr>
              <a:t>Personal Area Network</a:t>
            </a:r>
            <a:r>
              <a:rPr lang="en-IN" u="sng" dirty="0" smtClean="0"/>
              <a:t>): </a:t>
            </a:r>
            <a:r>
              <a:rPr lang="en-IN" b="1" dirty="0"/>
              <a:t>Your </a:t>
            </a:r>
            <a:r>
              <a:rPr lang="en-IN" b="1" dirty="0" smtClean="0"/>
              <a:t>Desk</a:t>
            </a:r>
            <a:r>
              <a:rPr lang="en-IN" b="1" dirty="0"/>
              <a:t>.</a:t>
            </a:r>
            <a:r>
              <a:rPr lang="en-IN" dirty="0"/>
              <a:t> </a:t>
            </a:r>
            <a:r>
              <a:rPr lang="en-IN" b="1" dirty="0"/>
              <a:t>Just reaching devices on your body or table (like Bluetooth).</a:t>
            </a:r>
          </a:p>
          <a:p>
            <a:pPr marL="0" indent="0">
              <a:buNone/>
            </a:pPr>
            <a:r>
              <a:rPr lang="en-IN" b="1" dirty="0" smtClean="0"/>
              <a:t> </a:t>
            </a:r>
            <a:r>
              <a:rPr lang="en-IN" b="1" u="sng" dirty="0"/>
              <a:t>LAN (Local): </a:t>
            </a:r>
            <a:r>
              <a:rPr lang="en-IN" b="1" dirty="0"/>
              <a:t>Your House. Connecting devices inside one </a:t>
            </a:r>
            <a:r>
              <a:rPr lang="en-IN" b="1" dirty="0" smtClean="0"/>
              <a:t>building.</a:t>
            </a:r>
          </a:p>
          <a:p>
            <a:pPr marL="0" indent="0">
              <a:buNone/>
            </a:pPr>
            <a:r>
              <a:rPr lang="en-IN" b="1" u="sng" dirty="0" smtClean="0"/>
              <a:t>CAN </a:t>
            </a:r>
            <a:r>
              <a:rPr lang="en-IN" b="1" u="sng" dirty="0"/>
              <a:t>(Campus): </a:t>
            </a:r>
            <a:r>
              <a:rPr lang="en-IN" b="1" dirty="0"/>
              <a:t>Your School. Connecting a few buildings grouped together.</a:t>
            </a:r>
          </a:p>
          <a:p>
            <a:pPr marL="0" indent="0">
              <a:buNone/>
            </a:pPr>
            <a:r>
              <a:rPr lang="en-IN" b="1" dirty="0" smtClean="0"/>
              <a:t> </a:t>
            </a:r>
            <a:r>
              <a:rPr lang="en-IN" b="1" u="sng" dirty="0"/>
              <a:t>MAN (Metropolitan): </a:t>
            </a:r>
            <a:r>
              <a:rPr lang="en-IN" b="1" dirty="0"/>
              <a:t>Your City. Connecting an entire town or </a:t>
            </a:r>
            <a:r>
              <a:rPr lang="en-IN" b="1" dirty="0" smtClean="0"/>
              <a:t>municipality.</a:t>
            </a:r>
          </a:p>
          <a:p>
            <a:pPr marL="0" indent="0">
              <a:buNone/>
            </a:pPr>
            <a:r>
              <a:rPr lang="en-IN" b="1" u="sng" dirty="0" smtClean="0"/>
              <a:t>WAN </a:t>
            </a:r>
            <a:r>
              <a:rPr lang="en-IN" b="1" u="sng" dirty="0"/>
              <a:t>(Wide): </a:t>
            </a:r>
            <a:r>
              <a:rPr lang="en-IN" b="1" dirty="0"/>
              <a:t>The World. Connecting different countries; this is the internet.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AutoShape 12" descr="Types of Computer Networks - GeeksforGeeks"/>
          <p:cNvSpPr>
            <a:spLocks noChangeAspect="1" noChangeArrowheads="1"/>
          </p:cNvSpPr>
          <p:nvPr/>
        </p:nvSpPr>
        <p:spPr bwMode="auto">
          <a:xfrm>
            <a:off x="387587" y="8237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4" descr="Types of Computer Networks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6" descr="Types of Computer Networks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Types of Computer Networks - GeeksforGeek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762" y="3015049"/>
            <a:ext cx="5857103" cy="31038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037126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4136" y="148282"/>
            <a:ext cx="8911687" cy="53134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IP Addressing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81901" y="679622"/>
            <a:ext cx="10597978" cy="628958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An </a:t>
            </a:r>
            <a:r>
              <a:rPr lang="en-IN" b="1" dirty="0"/>
              <a:t>IP address</a:t>
            </a:r>
            <a:r>
              <a:rPr lang="en-IN" dirty="0"/>
              <a:t> is a unique address given to a device on a network.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Example:192.168.0.10</a:t>
            </a:r>
          </a:p>
          <a:p>
            <a:pPr marL="0" indent="0">
              <a:buNone/>
            </a:pPr>
            <a:endParaRPr lang="en-IN" dirty="0" smtClean="0"/>
          </a:p>
          <a:p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94022" y="1285258"/>
            <a:ext cx="7522767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Public and private IP addresses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Static and dynamic IP addresses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Subnet mask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Default gateway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Basic subnetting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Simple example: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 IP address is like the home address of a computer on a network.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709351" y="3422760"/>
            <a:ext cx="6203562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AmenianMaralSSK" panose="00000700000000000000" pitchFamily="2" charset="0"/>
              </a:rPr>
              <a:t>                  DNS Fundamentals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menianMaralSSK" panose="00000700000000000000" pitchFamily="2" charset="0"/>
              </a:rPr>
              <a:t> </a:t>
            </a:r>
            <a:r>
              <a:rPr lang="en-US" dirty="0" smtClean="0">
                <a:latin typeface="AmenianMaralSSK" panose="00000700000000000000" pitchFamily="2" charset="0"/>
              </a:rPr>
              <a:t>                       </a:t>
            </a:r>
            <a:r>
              <a:rPr lang="en-US" sz="2400" dirty="0" smtClean="0">
                <a:latin typeface="AmenianMaralSSK" panose="00000700000000000000" pitchFamily="2" charset="0"/>
              </a:rPr>
              <a:t>Domain Name System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 smtClean="0">
              <a:latin typeface="AmenianMaralSSK" panose="00000700000000000000" pitchFamily="2" charset="0"/>
            </a:endParaRPr>
          </a:p>
          <a:p>
            <a:r>
              <a:rPr lang="en-IN" sz="2400" dirty="0">
                <a:latin typeface="AmenianMaralSSK" panose="00000700000000000000" pitchFamily="2" charset="0"/>
              </a:rPr>
              <a:t>What DNS </a:t>
            </a:r>
            <a:r>
              <a:rPr lang="en-IN" sz="2400" dirty="0" smtClean="0">
                <a:latin typeface="AmenianMaralSSK" panose="00000700000000000000" pitchFamily="2" charset="0"/>
              </a:rPr>
              <a:t>is</a:t>
            </a:r>
            <a:r>
              <a:rPr lang="en-IN" dirty="0" smtClean="0">
                <a:latin typeface="AmenianMaralSSK" panose="00000700000000000000" pitchFamily="2" charset="0"/>
              </a:rPr>
              <a:t>:</a:t>
            </a:r>
            <a:r>
              <a:rPr lang="en-IN" dirty="0" smtClean="0"/>
              <a:t> DNS is like the Contacts list on your phone</a:t>
            </a:r>
          </a:p>
          <a:p>
            <a:endParaRPr lang="en-IN" dirty="0">
              <a:latin typeface="AmenianMaralSSK" panose="00000700000000000000" pitchFamily="2" charset="0"/>
            </a:endParaRPr>
          </a:p>
          <a:p>
            <a:r>
              <a:rPr lang="en-IN" sz="2400" dirty="0">
                <a:latin typeface="AmenianMaralSSK" panose="00000700000000000000" pitchFamily="2" charset="0"/>
              </a:rPr>
              <a:t>How DNS </a:t>
            </a:r>
            <a:r>
              <a:rPr lang="en-IN" sz="2400" dirty="0" smtClean="0">
                <a:latin typeface="AmenianMaralSSK" panose="00000700000000000000" pitchFamily="2" charset="0"/>
              </a:rPr>
              <a:t>works</a:t>
            </a:r>
            <a:r>
              <a:rPr lang="en-IN" dirty="0" smtClean="0"/>
              <a:t>: DNS works like the </a:t>
            </a:r>
            <a:r>
              <a:rPr lang="en-IN" b="1" dirty="0" smtClean="0"/>
              <a:t>contacts list of the Internet</a:t>
            </a:r>
            <a:r>
              <a:rPr lang="en-IN" dirty="0" smtClean="0"/>
              <a:t>—it converts names into addresses</a:t>
            </a:r>
          </a:p>
          <a:p>
            <a:endParaRPr lang="en-IN" dirty="0"/>
          </a:p>
          <a:p>
            <a:r>
              <a:rPr lang="en-IN" dirty="0" smtClean="0">
                <a:latin typeface="Arial Black" panose="020B0A04020102020204" pitchFamily="34" charset="0"/>
              </a:rPr>
              <a:t>Domain names</a:t>
            </a:r>
            <a:r>
              <a:rPr lang="en-IN" dirty="0" smtClean="0"/>
              <a:t>:</a:t>
            </a:r>
            <a:r>
              <a:rPr lang="en-IN" b="1" dirty="0" smtClean="0"/>
              <a:t> DNS</a:t>
            </a:r>
            <a:r>
              <a:rPr lang="en-IN" dirty="0" smtClean="0"/>
              <a:t> looks up the name to find the right number so your browser knows where to go. </a:t>
            </a:r>
            <a:endParaRPr lang="en-I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709351" y="4830838"/>
            <a:ext cx="752276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327642" y="3664922"/>
            <a:ext cx="752276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058445" y="3392975"/>
            <a:ext cx="10021802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155" y="4496555"/>
            <a:ext cx="446749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You type: www.google.com</a:t>
            </a:r>
          </a:p>
          <a:p>
            <a:r>
              <a:rPr lang="en-US" dirty="0" smtClean="0"/>
              <a:t>          ↓</a:t>
            </a:r>
          </a:p>
          <a:p>
            <a:r>
              <a:rPr lang="en-US" dirty="0" smtClean="0"/>
              <a:t>        DNS</a:t>
            </a:r>
          </a:p>
          <a:p>
            <a:r>
              <a:rPr lang="en-US" dirty="0" smtClean="0"/>
              <a:t>          ↓</a:t>
            </a:r>
          </a:p>
          <a:p>
            <a:r>
              <a:rPr lang="en-US" dirty="0" smtClean="0"/>
              <a:t>IP Address</a:t>
            </a:r>
          </a:p>
          <a:p>
            <a:r>
              <a:rPr lang="en-US" dirty="0" smtClean="0"/>
              <a:t>          ↓</a:t>
            </a:r>
          </a:p>
          <a:p>
            <a:r>
              <a:rPr lang="en-US" dirty="0" smtClean="0"/>
              <a:t>Google's 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727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0313" y="154553"/>
            <a:ext cx="8911687" cy="599209"/>
          </a:xfrm>
        </p:spPr>
        <p:txBody>
          <a:bodyPr>
            <a:normAutofit fontScale="90000"/>
          </a:bodyPr>
          <a:lstStyle/>
          <a:p>
            <a:r>
              <a:rPr lang="en-US" dirty="0"/>
              <a:t>HTTP/HTTPS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0075" y="753762"/>
            <a:ext cx="9848335" cy="564703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AmenianMaralSSK" panose="00000700000000000000" pitchFamily="2" charset="0"/>
              </a:rPr>
              <a:t>HTTP = Hypertext Transfer </a:t>
            </a:r>
            <a:r>
              <a:rPr lang="en-US" sz="2800" dirty="0" smtClean="0">
                <a:latin typeface="AmenianMaralSSK" panose="00000700000000000000" pitchFamily="2" charset="0"/>
              </a:rPr>
              <a:t>Protocol</a:t>
            </a:r>
          </a:p>
          <a:p>
            <a:pPr marL="0" indent="0">
              <a:buNone/>
            </a:pPr>
            <a:r>
              <a:rPr lang="en-US" sz="2800" dirty="0">
                <a:latin typeface="AmenianMaralSSK" panose="00000700000000000000" pitchFamily="2" charset="0"/>
              </a:rPr>
              <a:t>HTTPS = Hypertext Transfer Protocol </a:t>
            </a:r>
            <a:r>
              <a:rPr lang="en-US" sz="2800" dirty="0" smtClean="0">
                <a:latin typeface="AmenianMaralSSK" panose="00000700000000000000" pitchFamily="2" charset="0"/>
              </a:rPr>
              <a:t>Secure</a:t>
            </a:r>
          </a:p>
          <a:p>
            <a:pPr marL="0" indent="0">
              <a:buNone/>
            </a:pPr>
            <a:r>
              <a:rPr lang="en-IN" sz="2800" dirty="0"/>
              <a:t>They are used when your browser communicates with websites. </a:t>
            </a:r>
            <a:endParaRPr lang="en-IN" sz="2800" dirty="0" smtClean="0"/>
          </a:p>
          <a:p>
            <a:pPr marL="0" indent="0">
              <a:buNone/>
            </a:pPr>
            <a:r>
              <a:rPr lang="en-IN" sz="2800" b="1" dirty="0"/>
              <a:t>HTTP:</a:t>
            </a:r>
            <a:r>
              <a:rPr lang="en-IN" sz="2800" dirty="0"/>
              <a:t> Data is not encrypted</a:t>
            </a:r>
            <a:r>
              <a:rPr lang="en-IN" sz="2800" dirty="0" smtClean="0"/>
              <a:t>.</a:t>
            </a:r>
          </a:p>
          <a:p>
            <a:pPr marL="0" indent="0">
              <a:buNone/>
            </a:pPr>
            <a:r>
              <a:rPr lang="en-IN" sz="2800" b="1" dirty="0"/>
              <a:t>HTTPS:</a:t>
            </a:r>
            <a:r>
              <a:rPr lang="en-IN" sz="2800" dirty="0"/>
              <a:t> Data is encrypted and more secure. </a:t>
            </a:r>
            <a:endParaRPr lang="en-IN" sz="2800" dirty="0" smtClean="0"/>
          </a:p>
          <a:p>
            <a:pPr marL="0" indent="0">
              <a:buNone/>
            </a:pPr>
            <a:r>
              <a:rPr lang="en-US" sz="2800" dirty="0"/>
              <a:t>Example: </a:t>
            </a:r>
            <a:r>
              <a:rPr lang="en-IN" sz="2800" dirty="0"/>
              <a:t>When you open a website such </a:t>
            </a:r>
            <a:r>
              <a:rPr lang="en-IN" sz="2800" dirty="0" smtClean="0"/>
              <a:t>as </a:t>
            </a:r>
            <a:r>
              <a:rPr lang="en-IN" sz="2800" dirty="0" smtClean="0">
                <a:hlinkClick r:id="rId3"/>
              </a:rPr>
              <a:t>https://example.com,your</a:t>
            </a:r>
            <a:r>
              <a:rPr lang="en-IN" sz="2800" dirty="0" smtClean="0"/>
              <a:t> brower uses</a:t>
            </a:r>
          </a:p>
          <a:p>
            <a:pPr marL="0" indent="0">
              <a:buNone/>
            </a:pPr>
            <a:r>
              <a:rPr lang="en-IN" sz="2800" dirty="0" smtClean="0"/>
              <a:t>HTTPS to communicate securely with the website</a:t>
            </a:r>
            <a:r>
              <a:rPr lang="en-IN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66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9095" y="0"/>
            <a:ext cx="10221501" cy="632354"/>
          </a:xfrm>
        </p:spPr>
        <p:txBody>
          <a:bodyPr>
            <a:normAutofit/>
          </a:bodyPr>
          <a:lstStyle/>
          <a:p>
            <a:r>
              <a:rPr lang="en-IN" sz="2800" dirty="0" smtClean="0"/>
              <a:t>  </a:t>
            </a:r>
            <a:r>
              <a:rPr lang="en-IN" sz="2800" b="1" dirty="0" smtClean="0"/>
              <a:t>Complete </a:t>
            </a:r>
            <a:r>
              <a:rPr lang="en-IN" sz="2800" b="1" dirty="0"/>
              <a:t>Network and Topology Using Packet Tracer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9095" y="479950"/>
            <a:ext cx="10822912" cy="6098310"/>
          </a:xfrm>
        </p:spPr>
        <p:txBody>
          <a:bodyPr/>
          <a:lstStyle/>
          <a:p>
            <a:pPr marL="457200" lvl="1" indent="0">
              <a:buNone/>
            </a:pPr>
            <a:r>
              <a:rPr lang="en-IN" sz="2000" dirty="0" smtClean="0"/>
              <a:t>This means </a:t>
            </a:r>
            <a:r>
              <a:rPr lang="en-IN" sz="2000" b="1" dirty="0" smtClean="0"/>
              <a:t>creating a complete computer network in Cisco Packet Tracer and checking whether all devices can communicate properly</a:t>
            </a:r>
            <a:r>
              <a:rPr lang="en-IN" b="1" dirty="0" smtClean="0"/>
              <a:t>.</a:t>
            </a:r>
          </a:p>
          <a:p>
            <a:pPr marL="457200" lvl="1" indent="0">
              <a:buNone/>
            </a:pPr>
            <a:r>
              <a:rPr lang="en-US" dirty="0" smtClean="0">
                <a:latin typeface="Arial Black" panose="020B0A04020102020204" pitchFamily="34" charset="0"/>
              </a:rPr>
              <a:t>Simple Example                                                                           </a:t>
            </a:r>
            <a:r>
              <a:rPr lang="en-US" b="1" dirty="0" smtClean="0"/>
              <a:t>Simulation Panel</a:t>
            </a:r>
            <a:r>
              <a:rPr lang="en-US" dirty="0" smtClean="0"/>
              <a:t> </a:t>
            </a:r>
          </a:p>
          <a:p>
            <a:pPr marL="457200" lvl="1" indent="0">
              <a:buNone/>
            </a:pPr>
            <a:r>
              <a:rPr lang="en-IN" dirty="0" smtClean="0"/>
              <a:t>                                                                                              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 smtClean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 smtClean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 smtClean="0"/>
          </a:p>
          <a:p>
            <a:pPr marL="457200" lvl="1" indent="0">
              <a:buNone/>
            </a:pPr>
            <a:r>
              <a:rPr lang="en-IN" dirty="0" smtClean="0"/>
              <a:t>\</a:t>
            </a:r>
          </a:p>
          <a:p>
            <a:pPr marL="457200" lvl="1" indent="0">
              <a:buNone/>
            </a:pPr>
            <a:r>
              <a:rPr lang="en-US" b="1" dirty="0" smtClean="0"/>
              <a:t>Network </a:t>
            </a:r>
            <a:r>
              <a:rPr lang="en-US" b="1" dirty="0"/>
              <a:t>configuration </a:t>
            </a:r>
            <a:endParaRPr lang="en-US" b="1" dirty="0" smtClean="0"/>
          </a:p>
          <a:p>
            <a:pPr marL="457200" lvl="1" indent="0">
              <a:buNone/>
            </a:pPr>
            <a:r>
              <a:rPr lang="en-US" b="1" dirty="0" smtClean="0"/>
              <a:t>summaries </a:t>
            </a:r>
            <a:r>
              <a:rPr lang="en-IN" b="1" dirty="0" smtClean="0"/>
              <a:t>PC0</a:t>
            </a:r>
            <a:r>
              <a:rPr lang="en-IN" dirty="0" smtClean="0"/>
              <a:t>  .</a:t>
            </a:r>
            <a:endParaRPr lang="en-IN" dirty="0"/>
          </a:p>
          <a:p>
            <a:pPr marL="457200" lvl="1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095" y="1488166"/>
            <a:ext cx="6847678" cy="26988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532" y="1557567"/>
            <a:ext cx="3504557" cy="26294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057" y="4145519"/>
            <a:ext cx="7670950" cy="276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3803" y="141440"/>
            <a:ext cx="8911687" cy="534989"/>
          </a:xfrm>
        </p:spPr>
        <p:txBody>
          <a:bodyPr>
            <a:normAutofit fontScale="90000"/>
          </a:bodyPr>
          <a:lstStyle/>
          <a:p>
            <a:r>
              <a:rPr lang="en-US" dirty="0"/>
              <a:t>Core Internet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5769" y="785611"/>
            <a:ext cx="10466231" cy="607238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menianMaralSSK" panose="00000700000000000000" pitchFamily="2" charset="0"/>
              </a:rPr>
              <a:t>            </a:t>
            </a:r>
            <a:r>
              <a:rPr lang="en-US" sz="2400" dirty="0" smtClean="0">
                <a:latin typeface="AmenianMaralSSK" panose="00000700000000000000" pitchFamily="2" charset="0"/>
              </a:rPr>
              <a:t>What </a:t>
            </a:r>
            <a:r>
              <a:rPr lang="en-US" sz="2400" dirty="0">
                <a:latin typeface="AmenianMaralSSK" panose="00000700000000000000" pitchFamily="2" charset="0"/>
              </a:rPr>
              <a:t>are Internet </a:t>
            </a:r>
            <a:r>
              <a:rPr lang="en-US" sz="2400" dirty="0" smtClean="0">
                <a:latin typeface="AmenianMaralSSK" panose="00000700000000000000" pitchFamily="2" charset="0"/>
              </a:rPr>
              <a:t>Technologies?</a:t>
            </a:r>
            <a:br>
              <a:rPr lang="en-US" sz="2400" dirty="0" smtClean="0">
                <a:latin typeface="AmenianMaralSSK" panose="00000700000000000000" pitchFamily="2" charset="0"/>
              </a:rPr>
            </a:br>
            <a:r>
              <a:rPr lang="en-IN" dirty="0" smtClean="0"/>
              <a:t>Internet </a:t>
            </a:r>
            <a:r>
              <a:rPr lang="en-IN" dirty="0"/>
              <a:t>technologies are the rules and systems that help </a:t>
            </a:r>
            <a:r>
              <a:rPr lang="en-IN" u="sng" dirty="0">
                <a:latin typeface="Arial Black" panose="020B0A04020102020204" pitchFamily="34" charset="0"/>
              </a:rPr>
              <a:t>computers and devices communicate with each other</a:t>
            </a:r>
            <a:r>
              <a:rPr lang="en-IN" u="sng" dirty="0" smtClean="0">
                <a:latin typeface="Arial Black" panose="020B0A040201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They </a:t>
            </a:r>
            <a:r>
              <a:rPr lang="en-US" dirty="0" smtClean="0">
                <a:latin typeface="Arial Black" panose="020B0A04020102020204" pitchFamily="34" charset="0"/>
              </a:rPr>
              <a:t>help us</a:t>
            </a:r>
            <a:r>
              <a:rPr lang="en-US" sz="2000" dirty="0" smtClean="0">
                <a:latin typeface="Arial Black" panose="020B0A04020102020204" pitchFamily="34" charset="0"/>
              </a:rPr>
              <a:t>:</a:t>
            </a:r>
            <a:r>
              <a:rPr lang="en-IN" dirty="0">
                <a:latin typeface="AmenianMaralSSK" panose="00000700000000000000" pitchFamily="2" charset="0"/>
              </a:rPr>
              <a:t>Send and receive </a:t>
            </a:r>
            <a:r>
              <a:rPr lang="en-IN" dirty="0" smtClean="0">
                <a:latin typeface="AmenianMaralSSK" panose="00000700000000000000" pitchFamily="2" charset="0"/>
              </a:rPr>
              <a:t>data</a:t>
            </a:r>
            <a:br>
              <a:rPr lang="en-IN" dirty="0" smtClean="0">
                <a:latin typeface="AmenianMaralSSK" panose="00000700000000000000" pitchFamily="2" charset="0"/>
              </a:rPr>
            </a:br>
            <a:r>
              <a:rPr lang="en-IN" dirty="0" smtClean="0">
                <a:latin typeface="AmenianMaralSSK" panose="00000700000000000000" pitchFamily="2" charset="0"/>
              </a:rPr>
              <a:t>             </a:t>
            </a:r>
            <a:r>
              <a:rPr lang="en-IN" dirty="0" smtClean="0">
                <a:latin typeface="AmenianMaralSSK" panose="00000700000000000000" pitchFamily="2" charset="0"/>
              </a:rPr>
              <a:t> Access </a:t>
            </a:r>
            <a:r>
              <a:rPr lang="en-IN" dirty="0" smtClean="0">
                <a:latin typeface="AmenianMaralSSK" panose="00000700000000000000" pitchFamily="2" charset="0"/>
              </a:rPr>
              <a:t>websites</a:t>
            </a:r>
            <a:br>
              <a:rPr lang="en-IN" dirty="0" smtClean="0">
                <a:latin typeface="AmenianMaralSSK" panose="00000700000000000000" pitchFamily="2" charset="0"/>
              </a:rPr>
            </a:br>
            <a:r>
              <a:rPr lang="en-IN" dirty="0" smtClean="0">
                <a:latin typeface="AmenianMaralSSK" panose="00000700000000000000" pitchFamily="2" charset="0"/>
              </a:rPr>
              <a:t>             </a:t>
            </a:r>
            <a:r>
              <a:rPr lang="en-IN" dirty="0" smtClean="0">
                <a:latin typeface="AmenianMaralSSK" panose="00000700000000000000" pitchFamily="2" charset="0"/>
              </a:rPr>
              <a:t> Send </a:t>
            </a:r>
            <a:r>
              <a:rPr lang="en-IN" dirty="0" smtClean="0">
                <a:latin typeface="AmenianMaralSSK" panose="00000700000000000000" pitchFamily="2" charset="0"/>
              </a:rPr>
              <a:t>emails</a:t>
            </a:r>
            <a:r>
              <a:rPr lang="en-IN" dirty="0">
                <a:latin typeface="AmenianMaralSSK" panose="00000700000000000000" pitchFamily="2" charset="0"/>
              </a:rPr>
              <a:t/>
            </a:r>
            <a:br>
              <a:rPr lang="en-IN" dirty="0">
                <a:latin typeface="AmenianMaralSSK" panose="00000700000000000000" pitchFamily="2" charset="0"/>
              </a:rPr>
            </a:br>
            <a:r>
              <a:rPr lang="en-IN" dirty="0">
                <a:latin typeface="AmenianMaralSSK" panose="00000700000000000000" pitchFamily="2" charset="0"/>
              </a:rPr>
              <a:t> </a:t>
            </a:r>
            <a:r>
              <a:rPr lang="en-IN" dirty="0" smtClean="0">
                <a:latin typeface="AmenianMaralSSK" panose="00000700000000000000" pitchFamily="2" charset="0"/>
              </a:rPr>
              <a:t>            </a:t>
            </a:r>
            <a:r>
              <a:rPr lang="en-IN" dirty="0" smtClean="0">
                <a:latin typeface="AmenianMaralSSK" panose="00000700000000000000" pitchFamily="2" charset="0"/>
              </a:rPr>
              <a:t> Share </a:t>
            </a:r>
            <a:r>
              <a:rPr lang="en-IN" dirty="0" smtClean="0">
                <a:latin typeface="AmenianMaralSSK" panose="00000700000000000000" pitchFamily="2" charset="0"/>
              </a:rPr>
              <a:t>files</a:t>
            </a:r>
            <a:br>
              <a:rPr lang="en-IN" dirty="0" smtClean="0">
                <a:latin typeface="AmenianMaralSSK" panose="00000700000000000000" pitchFamily="2" charset="0"/>
              </a:rPr>
            </a:br>
            <a:r>
              <a:rPr lang="en-IN" dirty="0" smtClean="0">
                <a:latin typeface="AmenianMaralSSK" panose="00000700000000000000" pitchFamily="2" charset="0"/>
              </a:rPr>
              <a:t>             </a:t>
            </a:r>
            <a:r>
              <a:rPr lang="en-IN" dirty="0" smtClean="0">
                <a:latin typeface="AmenianMaralSSK" panose="00000700000000000000" pitchFamily="2" charset="0"/>
              </a:rPr>
              <a:t> Connect </a:t>
            </a:r>
            <a:r>
              <a:rPr lang="en-IN" dirty="0">
                <a:latin typeface="AmenianMaralSSK" panose="00000700000000000000" pitchFamily="2" charset="0"/>
              </a:rPr>
              <a:t>to different </a:t>
            </a:r>
            <a:r>
              <a:rPr lang="en-IN" dirty="0" smtClean="0">
                <a:latin typeface="AmenianMaralSSK" panose="00000700000000000000" pitchFamily="2" charset="0"/>
              </a:rPr>
              <a:t>networks</a:t>
            </a:r>
          </a:p>
          <a:p>
            <a:pPr marL="0" indent="0">
              <a:buNone/>
            </a:pPr>
            <a:r>
              <a:rPr lang="en-US" dirty="0" smtClean="0">
                <a:latin typeface="AmenianMaralSSK" panose="00000700000000000000" pitchFamily="2" charset="0"/>
              </a:rPr>
              <a:t>                            </a:t>
            </a:r>
            <a:r>
              <a:rPr lang="en-US" sz="2400" dirty="0" smtClean="0">
                <a:latin typeface="AmenianMaralSSK" panose="00000700000000000000" pitchFamily="2" charset="0"/>
              </a:rPr>
              <a:t>Protocol Concepts</a:t>
            </a:r>
          </a:p>
          <a:p>
            <a:pPr marL="0" indent="0">
              <a:buNone/>
            </a:pPr>
            <a:r>
              <a:rPr lang="en-IN" dirty="0"/>
              <a:t>A protocol is a set of </a:t>
            </a:r>
            <a:r>
              <a:rPr lang="en-IN" u="sng" dirty="0"/>
              <a:t>rules used for </a:t>
            </a:r>
            <a:r>
              <a:rPr lang="en-IN" u="sng" dirty="0" smtClean="0"/>
              <a:t>communication </a:t>
            </a:r>
            <a:r>
              <a:rPr lang="en-IN" u="sng" dirty="0"/>
              <a:t>between devices</a:t>
            </a:r>
            <a:r>
              <a:rPr lang="en-IN" u="sng" dirty="0" smtClean="0"/>
              <a:t>.</a:t>
            </a:r>
          </a:p>
          <a:p>
            <a:pPr marL="0" indent="0">
              <a:buNone/>
            </a:pPr>
            <a:r>
              <a:rPr lang="en-US" dirty="0"/>
              <a:t>Some common protocols are</a:t>
            </a:r>
            <a:r>
              <a:rPr lang="en-US" dirty="0" smtClean="0"/>
              <a:t>: </a:t>
            </a:r>
            <a:r>
              <a:rPr lang="en-US" dirty="0" smtClean="0">
                <a:latin typeface="AmenianMaralSSK" panose="00000700000000000000" pitchFamily="2" charset="0"/>
              </a:rPr>
              <a:t>HTTP/HTTPS </a:t>
            </a:r>
            <a:r>
              <a:rPr lang="en-US" dirty="0">
                <a:latin typeface="AmenianMaralSSK" panose="00000700000000000000" pitchFamily="2" charset="0"/>
              </a:rPr>
              <a:t>– used for </a:t>
            </a:r>
            <a:r>
              <a:rPr lang="en-US" dirty="0" smtClean="0">
                <a:latin typeface="AmenianMaralSSK" panose="00000700000000000000" pitchFamily="2" charset="0"/>
              </a:rPr>
              <a:t>websites</a:t>
            </a:r>
            <a:br>
              <a:rPr lang="en-US" dirty="0" smtClean="0">
                <a:latin typeface="AmenianMaralSSK" panose="00000700000000000000" pitchFamily="2" charset="0"/>
              </a:rPr>
            </a:br>
            <a:r>
              <a:rPr lang="en-US" dirty="0" smtClean="0">
                <a:latin typeface="AmenianMaralSSK" panose="00000700000000000000" pitchFamily="2" charset="0"/>
              </a:rPr>
              <a:t>                              FTP </a:t>
            </a:r>
            <a:r>
              <a:rPr lang="en-US" dirty="0">
                <a:latin typeface="AmenianMaralSSK" panose="00000700000000000000" pitchFamily="2" charset="0"/>
              </a:rPr>
              <a:t>– used for file </a:t>
            </a:r>
            <a:r>
              <a:rPr lang="en-US" dirty="0" smtClean="0">
                <a:latin typeface="AmenianMaralSSK" panose="00000700000000000000" pitchFamily="2" charset="0"/>
              </a:rPr>
              <a:t>transfer</a:t>
            </a:r>
            <a:br>
              <a:rPr lang="en-US" dirty="0" smtClean="0">
                <a:latin typeface="AmenianMaralSSK" panose="00000700000000000000" pitchFamily="2" charset="0"/>
              </a:rPr>
            </a:br>
            <a:r>
              <a:rPr lang="en-US" dirty="0" smtClean="0">
                <a:latin typeface="AmenianMaralSSK" panose="00000700000000000000" pitchFamily="2" charset="0"/>
              </a:rPr>
              <a:t>              	                DNS </a:t>
            </a:r>
            <a:r>
              <a:rPr lang="en-US" dirty="0">
                <a:latin typeface="AmenianMaralSSK" panose="00000700000000000000" pitchFamily="2" charset="0"/>
              </a:rPr>
              <a:t>– converts domain names into IP </a:t>
            </a:r>
            <a:r>
              <a:rPr lang="en-US" dirty="0" smtClean="0">
                <a:latin typeface="AmenianMaralSSK" panose="00000700000000000000" pitchFamily="2" charset="0"/>
              </a:rPr>
              <a:t>addresses</a:t>
            </a:r>
            <a:br>
              <a:rPr lang="en-US" dirty="0" smtClean="0">
                <a:latin typeface="AmenianMaralSSK" panose="00000700000000000000" pitchFamily="2" charset="0"/>
              </a:rPr>
            </a:br>
            <a:r>
              <a:rPr lang="en-US" dirty="0" smtClean="0">
                <a:latin typeface="AmenianMaralSSK" panose="00000700000000000000" pitchFamily="2" charset="0"/>
              </a:rPr>
              <a:t>                              TCP </a:t>
            </a:r>
            <a:r>
              <a:rPr lang="en-US" dirty="0">
                <a:latin typeface="AmenianMaralSSK" panose="00000700000000000000" pitchFamily="2" charset="0"/>
              </a:rPr>
              <a:t>– provides reliable </a:t>
            </a:r>
            <a:r>
              <a:rPr lang="en-US" dirty="0" smtClean="0">
                <a:latin typeface="AmenianMaralSSK" panose="00000700000000000000" pitchFamily="2" charset="0"/>
              </a:rPr>
              <a:t>communication</a:t>
            </a:r>
            <a:br>
              <a:rPr lang="en-US" dirty="0" smtClean="0">
                <a:latin typeface="AmenianMaralSSK" panose="00000700000000000000" pitchFamily="2" charset="0"/>
              </a:rPr>
            </a:br>
            <a:r>
              <a:rPr lang="en-US" dirty="0" smtClean="0">
                <a:latin typeface="AmenianMaralSSK" panose="00000700000000000000" pitchFamily="2" charset="0"/>
              </a:rPr>
              <a:t>                              IP </a:t>
            </a:r>
            <a:r>
              <a:rPr lang="en-US" dirty="0">
                <a:latin typeface="AmenianMaralSSK" panose="00000700000000000000" pitchFamily="2" charset="0"/>
              </a:rPr>
              <a:t>– helps deliver data to the correct </a:t>
            </a:r>
            <a:r>
              <a:rPr lang="en-US" dirty="0" smtClean="0">
                <a:latin typeface="AmenianMaralSSK" panose="00000700000000000000" pitchFamily="2" charset="0"/>
              </a:rPr>
              <a:t>device</a:t>
            </a:r>
          </a:p>
          <a:p>
            <a:pPr marL="0" indent="0">
              <a:buNone/>
            </a:pPr>
            <a:r>
              <a:rPr lang="en-IN" dirty="0"/>
              <a:t>Example</a:t>
            </a:r>
            <a:r>
              <a:rPr lang="en-IN" sz="2000" dirty="0">
                <a:latin typeface="AmenianMaralSSK" panose="00000700000000000000" pitchFamily="2" charset="0"/>
              </a:rPr>
              <a:t>:</a:t>
            </a:r>
            <a:r>
              <a:rPr lang="en-IN" dirty="0">
                <a:latin typeface="AmenianMaralSSK" panose="00000700000000000000" pitchFamily="2" charset="0"/>
              </a:rPr>
              <a:t> When we open a website, different protocols work together to load the webpage</a:t>
            </a:r>
            <a:endParaRPr lang="en-US" dirty="0">
              <a:latin typeface="AmenianMaralSSK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5883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90153"/>
            <a:ext cx="8911687" cy="5666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                    </a:t>
            </a:r>
            <a:r>
              <a:rPr lang="en-US" b="1" dirty="0" smtClean="0"/>
              <a:t>OSI </a:t>
            </a:r>
            <a:r>
              <a:rPr lang="en-US" b="1" dirty="0"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8735" y="656823"/>
            <a:ext cx="12680361" cy="6201177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>
                <a:latin typeface="Arial Black" panose="020B0A04020102020204" pitchFamily="34" charset="0"/>
              </a:rPr>
              <a:t>                                   Open Systems Interconnection</a:t>
            </a:r>
          </a:p>
          <a:p>
            <a:pPr marL="0" indent="0">
              <a:buNone/>
            </a:pPr>
            <a:r>
              <a:rPr lang="en-IN" dirty="0" smtClean="0"/>
              <a:t>The </a:t>
            </a:r>
            <a:r>
              <a:rPr lang="en-IN" dirty="0"/>
              <a:t>OSI Model explains </a:t>
            </a:r>
            <a:r>
              <a:rPr lang="en-IN" dirty="0">
                <a:latin typeface="Arial Black" panose="020B0A04020102020204" pitchFamily="34" charset="0"/>
              </a:rPr>
              <a:t>how data moves through a network</a:t>
            </a:r>
            <a:r>
              <a:rPr lang="en-IN" dirty="0" smtClean="0">
                <a:latin typeface="Arial Black" panose="020B0A040201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menianMaralSSK" panose="00000700000000000000" pitchFamily="2" charset="0"/>
              </a:rPr>
              <a:t>OSI Model – Simple Example Table</a:t>
            </a:r>
            <a:endParaRPr lang="en-IN" dirty="0">
              <a:latin typeface="AmenianMaralSSK" panose="00000700000000000000" pitchFamily="2" charset="0"/>
            </a:endParaRP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419930"/>
              </p:ext>
            </p:extLst>
          </p:nvPr>
        </p:nvGraphicFramePr>
        <p:xfrm>
          <a:off x="1828800" y="2063579"/>
          <a:ext cx="10120184" cy="4436074"/>
        </p:xfrm>
        <a:graphic>
          <a:graphicData uri="http://schemas.openxmlformats.org/drawingml/2006/table">
            <a:tbl>
              <a:tblPr/>
              <a:tblGrid>
                <a:gridCol w="2762430"/>
                <a:gridCol w="2352726"/>
                <a:gridCol w="2502514"/>
                <a:gridCol w="2502514"/>
              </a:tblGrid>
              <a:tr h="297209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Layer No.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OSI Layer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Example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What it does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1266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menianMaralSSK" panose="00000700000000000000" pitchFamily="2" charset="0"/>
                        </a:rPr>
                        <a:t>7</a:t>
                      </a:r>
                      <a:endParaRPr lang="en-US" sz="1100" dirty="0">
                        <a:latin typeface="AmenianMaralSSK" panose="00000700000000000000" pitchFamily="2" charset="0"/>
                      </a:endParaRP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Application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menianMaralSSK" panose="00000700000000000000" pitchFamily="2" charset="0"/>
                        </a:rPr>
                        <a:t>HTTP, HTTPS, FTP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menianMaralSSK" panose="00000700000000000000" pitchFamily="2" charset="0"/>
                        </a:rPr>
                        <a:t>Provides network services to applications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2408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menianMaralSSK" panose="00000700000000000000" pitchFamily="2" charset="0"/>
                        </a:rPr>
                        <a:t>6</a:t>
                      </a:r>
                      <a:endParaRPr lang="en-US" sz="1100" dirty="0">
                        <a:latin typeface="AmenianMaralSSK" panose="00000700000000000000" pitchFamily="2" charset="0"/>
                      </a:endParaRP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Presentation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Encryption, JPEG, SSL/TLS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AmenianMaralSSK" panose="00000700000000000000" pitchFamily="2" charset="0"/>
                        </a:rPr>
                        <a:t>Converts, encrypts, and formats data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9260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menianMaralSSK" panose="00000700000000000000" pitchFamily="2" charset="0"/>
                        </a:rPr>
                        <a:t>5</a:t>
                      </a:r>
                      <a:endParaRPr lang="en-US" sz="1100" dirty="0">
                        <a:latin typeface="AmenianMaralSSK" panose="00000700000000000000" pitchFamily="2" charset="0"/>
                      </a:endParaRP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Session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Session management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Establishes and manages communication sessions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5557"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AmenianMaralSSK" panose="00000700000000000000" pitchFamily="2" charset="0"/>
                        </a:rPr>
                        <a:t>4</a:t>
                      </a:r>
                      <a:endParaRPr lang="en-US" sz="1100">
                        <a:latin typeface="AmenianMaralSSK" panose="00000700000000000000" pitchFamily="2" charset="0"/>
                      </a:endParaRP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Transport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TCP, UDP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Provides end-to-end data delivery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5557"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AmenianMaralSSK" panose="00000700000000000000" pitchFamily="2" charset="0"/>
                        </a:rPr>
                        <a:t>3</a:t>
                      </a:r>
                      <a:endParaRPr lang="en-US" sz="1100">
                        <a:latin typeface="AmenianMaralSSK" panose="00000700000000000000" pitchFamily="2" charset="0"/>
                      </a:endParaRP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Network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IP, Router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menianMaralSSK" panose="00000700000000000000" pitchFamily="2" charset="0"/>
                        </a:rPr>
                        <a:t>Finds the route for data packets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9260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menianMaralSSK" panose="00000700000000000000" pitchFamily="2" charset="0"/>
                        </a:rPr>
                        <a:t>2</a:t>
                      </a:r>
                      <a:endParaRPr lang="en-US" sz="1100" dirty="0">
                        <a:latin typeface="AmenianMaralSSK" panose="00000700000000000000" pitchFamily="2" charset="0"/>
                      </a:endParaRP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menianMaralSSK" panose="00000700000000000000" pitchFamily="2" charset="0"/>
                        </a:rPr>
                        <a:t>Data Link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Ethernet, Wi-Fi, MAC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menianMaralSSK" panose="00000700000000000000" pitchFamily="2" charset="0"/>
                        </a:rPr>
                        <a:t>Transfers frames between devices on a local network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5557"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AmenianMaralSSK" panose="00000700000000000000" pitchFamily="2" charset="0"/>
                        </a:rPr>
                        <a:t>1</a:t>
                      </a:r>
                      <a:endParaRPr lang="en-US" sz="1100">
                        <a:latin typeface="AmenianMaralSSK" panose="00000700000000000000" pitchFamily="2" charset="0"/>
                      </a:endParaRP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Physical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Cable, Fiber, Radio waves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menianMaralSSK" panose="00000700000000000000" pitchFamily="2" charset="0"/>
                        </a:rPr>
                        <a:t>Transmits data as bits/signals</a:t>
                      </a:r>
                    </a:p>
                  </a:txBody>
                  <a:tcPr marL="54735" marR="54735" marT="27368" marB="2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-859084" y="1661016"/>
            <a:ext cx="21921694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549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5617" y="128790"/>
            <a:ext cx="9868995" cy="52803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                        </a:t>
            </a:r>
            <a:r>
              <a:rPr lang="en-US" b="1" dirty="0" smtClean="0"/>
              <a:t>TCP/IP </a:t>
            </a:r>
            <a:r>
              <a:rPr lang="en-US" b="1" dirty="0"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5617" y="656823"/>
            <a:ext cx="10556383" cy="6201177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b="1" dirty="0" smtClean="0"/>
              <a:t>Transmission Control Protocol</a:t>
            </a:r>
            <a:r>
              <a:rPr lang="en-IN" dirty="0" smtClean="0"/>
              <a:t> </a:t>
            </a:r>
            <a:r>
              <a:rPr lang="en-IN" dirty="0"/>
              <a:t>= Makes sure all packets reach correctly.</a:t>
            </a:r>
            <a:br>
              <a:rPr lang="en-IN" dirty="0"/>
            </a:br>
            <a:r>
              <a:rPr lang="en-IN" dirty="0" smtClean="0"/>
              <a:t> </a:t>
            </a:r>
            <a:r>
              <a:rPr lang="en-IN" b="1" dirty="0" smtClean="0"/>
              <a:t>Internet Protocol</a:t>
            </a:r>
            <a:r>
              <a:rPr lang="en-IN" dirty="0" smtClean="0"/>
              <a:t> </a:t>
            </a:r>
            <a:r>
              <a:rPr lang="en-IN" dirty="0"/>
              <a:t>= Helps find where the packets need to </a:t>
            </a:r>
            <a:r>
              <a:rPr lang="en-IN" dirty="0" smtClean="0"/>
              <a:t>go.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                                          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576841"/>
              </p:ext>
            </p:extLst>
          </p:nvPr>
        </p:nvGraphicFramePr>
        <p:xfrm>
          <a:off x="1378225" y="1596787"/>
          <a:ext cx="10686395" cy="5104265"/>
        </p:xfrm>
        <a:graphic>
          <a:graphicData uri="http://schemas.openxmlformats.org/drawingml/2006/table">
            <a:tbl>
              <a:tblPr/>
              <a:tblGrid>
                <a:gridCol w="2836247"/>
                <a:gridCol w="2875659"/>
                <a:gridCol w="2796837"/>
                <a:gridCol w="2177652"/>
              </a:tblGrid>
              <a:tr h="60559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menianMaralSSK" panose="00000700000000000000" pitchFamily="2" charset="0"/>
                        </a:rPr>
                        <a:t>Layer No.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menianMaralSSK" panose="00000700000000000000" pitchFamily="2" charset="0"/>
                        </a:rPr>
                        <a:t>TCP/IP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menianMaralSSK" panose="00000700000000000000" pitchFamily="2" charset="0"/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menianMaralSSK" panose="00000700000000000000" pitchFamily="2" charset="0"/>
                        </a:rPr>
                        <a:t>Main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512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menianMaralSSK" panose="00000700000000000000" pitchFamily="2" charset="0"/>
                        </a:rPr>
                        <a:t>4</a:t>
                      </a:r>
                      <a:endParaRPr lang="en-US" sz="1800" dirty="0">
                        <a:latin typeface="AmenianMaralSSK" panose="000007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AmenianMaralSSK" panose="00000700000000000000" pitchFamily="2" charset="0"/>
                        </a:rPr>
                        <a:t>Application</a:t>
                      </a:r>
                      <a:endParaRPr lang="en-US" sz="1800">
                        <a:latin typeface="AmenianMaralSSK" panose="000007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menianMaralSSK" panose="00000700000000000000" pitchFamily="2" charset="0"/>
                        </a:rPr>
                        <a:t>HTTP, HTTPS, FTP, DNS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menianMaralSSK" panose="00000700000000000000" pitchFamily="2" charset="0"/>
                        </a:rPr>
                        <a:t>Provides services to 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466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menianMaralSSK" panose="00000700000000000000" pitchFamily="2" charset="0"/>
                        </a:rPr>
                        <a:t>3</a:t>
                      </a:r>
                      <a:endParaRPr lang="en-US" sz="1800" dirty="0">
                        <a:latin typeface="AmenianMaralSSK" panose="000007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menianMaralSSK" panose="00000700000000000000" pitchFamily="2" charset="0"/>
                        </a:rPr>
                        <a:t>Transport</a:t>
                      </a:r>
                      <a:endParaRPr lang="en-US" sz="1800" dirty="0">
                        <a:latin typeface="AmenianMaralSSK" panose="000007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menianMaralSSK" panose="00000700000000000000" pitchFamily="2" charset="0"/>
                        </a:rPr>
                        <a:t>TCP, UDP</a:t>
                      </a:r>
                      <a:endParaRPr lang="en-US" sz="1800" dirty="0">
                        <a:latin typeface="AmenianMaralSSK" panose="000007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menianMaralSSK" panose="00000700000000000000" pitchFamily="2" charset="0"/>
                        </a:rPr>
                        <a:t>Provides end-to-end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466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menianMaralSSK" panose="00000700000000000000" pitchFamily="2" charset="0"/>
                        </a:rPr>
                        <a:t>2</a:t>
                      </a:r>
                      <a:endParaRPr lang="en-US" sz="1800" dirty="0">
                        <a:latin typeface="AmenianMaralSSK" panose="000007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menianMaralSSK" panose="00000700000000000000" pitchFamily="2" charset="0"/>
                        </a:rPr>
                        <a:t>Internet</a:t>
                      </a:r>
                      <a:endParaRPr lang="en-US" sz="1800" dirty="0">
                        <a:latin typeface="AmenianMaralSSK" panose="000007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menianMaralSSK" panose="00000700000000000000" pitchFamily="2" charset="0"/>
                        </a:rPr>
                        <a:t>IP, ICMP</a:t>
                      </a:r>
                      <a:endParaRPr lang="en-US" sz="1800" dirty="0">
                        <a:latin typeface="AmenianMaralSSK" panose="000007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menianMaralSSK" panose="00000700000000000000" pitchFamily="2" charset="0"/>
                        </a:rPr>
                        <a:t>Routes packets between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84207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menianMaralSSK" panose="00000700000000000000" pitchFamily="2" charset="0"/>
                        </a:rPr>
                        <a:t>1</a:t>
                      </a:r>
                      <a:endParaRPr lang="en-US" sz="1800" dirty="0">
                        <a:latin typeface="AmenianMaralSSK" panose="000007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menianMaralSSK" panose="00000700000000000000" pitchFamily="2" charset="0"/>
                        </a:rPr>
                        <a:t>Network Access</a:t>
                      </a:r>
                      <a:endParaRPr lang="en-US" sz="1800" dirty="0">
                        <a:latin typeface="AmenianMaralSSK" panose="000007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menianMaralSSK" panose="00000700000000000000" pitchFamily="2" charset="0"/>
                        </a:rPr>
                        <a:t>Ethernet, Wi-Fi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menianMaralSSK" panose="00000700000000000000" pitchFamily="2" charset="0"/>
                        </a:rPr>
                        <a:t>Transfers data through the physical </a:t>
                      </a:r>
                      <a:r>
                        <a:rPr lang="en-IN" sz="1800" dirty="0" smtClean="0">
                          <a:latin typeface="AmenianMaralSSK" panose="00000700000000000000" pitchFamily="2" charset="0"/>
                        </a:rPr>
                        <a:t>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78226" y="1382411"/>
            <a:ext cx="13402987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                      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TCP/IP Model – 4 Layers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04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5773" y="559558"/>
            <a:ext cx="10006885" cy="1146412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7200" dirty="0" smtClean="0"/>
              <a:t>.</a:t>
            </a:r>
            <a:endParaRPr lang="en-US" sz="7200" dirty="0" smtClean="0"/>
          </a:p>
          <a:p>
            <a:pPr marL="0" indent="0">
              <a:buNone/>
            </a:pPr>
            <a:r>
              <a:rPr lang="en-IN" sz="7200" dirty="0">
                <a:latin typeface="+mj-lt"/>
              </a:rPr>
              <a:t>These are </a:t>
            </a:r>
            <a:r>
              <a:rPr lang="en-IN" sz="7200" b="1" dirty="0">
                <a:latin typeface="+mj-lt"/>
              </a:rPr>
              <a:t>network ports</a:t>
            </a:r>
            <a:r>
              <a:rPr lang="en-IN" sz="7200" dirty="0">
                <a:latin typeface="+mj-lt"/>
              </a:rPr>
              <a:t>. A port is like a </a:t>
            </a:r>
            <a:r>
              <a:rPr lang="en-IN" sz="7200" b="1" dirty="0">
                <a:latin typeface="+mj-lt"/>
              </a:rPr>
              <a:t>numbered door</a:t>
            </a:r>
            <a:r>
              <a:rPr lang="en-IN" sz="7200" dirty="0">
                <a:latin typeface="+mj-lt"/>
              </a:rPr>
              <a:t> on a computer that helps network traffic reach the correct service</a:t>
            </a:r>
            <a:r>
              <a:rPr lang="en-IN" sz="5500" dirty="0"/>
              <a:t>.</a:t>
            </a:r>
            <a:endParaRPr lang="en-US" sz="55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75773" y="159738"/>
            <a:ext cx="9881874" cy="61818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                 Ports </a:t>
            </a:r>
            <a:r>
              <a:rPr lang="en-US" b="1" dirty="0"/>
              <a:t>and Services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901353"/>
              </p:ext>
            </p:extLst>
          </p:nvPr>
        </p:nvGraphicFramePr>
        <p:xfrm>
          <a:off x="513007" y="1882754"/>
          <a:ext cx="11541620" cy="3552131"/>
        </p:xfrm>
        <a:graphic>
          <a:graphicData uri="http://schemas.openxmlformats.org/drawingml/2006/table">
            <a:tbl>
              <a:tblPr/>
              <a:tblGrid>
                <a:gridCol w="2885405"/>
                <a:gridCol w="2885405"/>
                <a:gridCol w="2885405"/>
                <a:gridCol w="2885405"/>
              </a:tblGrid>
              <a:tr h="341948">
                <a:tc>
                  <a:txBody>
                    <a:bodyPr/>
                    <a:lstStyle/>
                    <a:p>
                      <a:pPr algn="r"/>
                      <a:r>
                        <a:rPr lang="en-US" sz="1700" dirty="0" smtClean="0"/>
                        <a:t>Port</a:t>
                      </a:r>
                      <a:endParaRPr lang="en-US" sz="1700" dirty="0"/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Service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Full Form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What it is used for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88611">
                <a:tc>
                  <a:txBody>
                    <a:bodyPr/>
                    <a:lstStyle/>
                    <a:p>
                      <a:pPr algn="r"/>
                      <a:r>
                        <a:rPr lang="en-US" sz="1700" b="1" dirty="0"/>
                        <a:t>80</a:t>
                      </a:r>
                      <a:endParaRPr lang="en-US" sz="1700" dirty="0"/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HTTP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HyperText Transfer Protocol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Opening normal websites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54871">
                <a:tc>
                  <a:txBody>
                    <a:bodyPr/>
                    <a:lstStyle/>
                    <a:p>
                      <a:pPr algn="r"/>
                      <a:r>
                        <a:rPr lang="en-US" sz="1700" b="1" dirty="0"/>
                        <a:t>443</a:t>
                      </a:r>
                      <a:endParaRPr lang="en-US" sz="1700" dirty="0"/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HTTPS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HyperText Transfer Protocol Secure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Opening secure/encrypted websites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1948">
                <a:tc>
                  <a:txBody>
                    <a:bodyPr/>
                    <a:lstStyle/>
                    <a:p>
                      <a:pPr algn="r"/>
                      <a:r>
                        <a:rPr lang="en-US" sz="1700" b="1" dirty="0"/>
                        <a:t>21</a:t>
                      </a:r>
                      <a:endParaRPr lang="en-US" sz="1700" dirty="0"/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FTP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File Transfer Protocol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Transferring files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8410">
                <a:tc>
                  <a:txBody>
                    <a:bodyPr/>
                    <a:lstStyle/>
                    <a:p>
                      <a:pPr algn="r"/>
                      <a:r>
                        <a:rPr lang="en-US" sz="1700" b="1" dirty="0"/>
                        <a:t>22</a:t>
                      </a:r>
                      <a:endParaRPr lang="en-US" sz="1700" dirty="0"/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SSH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Secure Shell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Secure remote login/access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8410">
                <a:tc>
                  <a:txBody>
                    <a:bodyPr/>
                    <a:lstStyle/>
                    <a:p>
                      <a:pPr algn="r"/>
                      <a:r>
                        <a:rPr lang="en-US" sz="1700" b="1" dirty="0"/>
                        <a:t>53</a:t>
                      </a:r>
                      <a:endParaRPr lang="en-US" sz="1700" dirty="0"/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DNS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Domain Name System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Converts website names into IP addresses</a:t>
                      </a:r>
                    </a:p>
                  </a:txBody>
                  <a:tcPr marL="86360" marR="86360" marT="43180" marB="43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 rot="10800000" flipH="1" flipV="1">
            <a:off x="2953299" y="5769746"/>
            <a:ext cx="9556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Example: HTTPS normally uses port 443 for secure web communication</a:t>
            </a:r>
            <a:r>
              <a:rPr lang="en-US" dirty="0" smtClean="0"/>
              <a:t>.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8193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764" y="28990"/>
            <a:ext cx="9962415" cy="641445"/>
          </a:xfrm>
        </p:spPr>
        <p:txBody>
          <a:bodyPr/>
          <a:lstStyle/>
          <a:p>
            <a:r>
              <a:rPr lang="en-US" dirty="0" smtClean="0"/>
              <a:t>                                </a:t>
            </a:r>
            <a:r>
              <a:rPr lang="en-US" b="1" dirty="0" smtClean="0"/>
              <a:t> DNS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4083" y="617584"/>
            <a:ext cx="9798642" cy="62404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                         </a:t>
            </a:r>
            <a:r>
              <a:rPr lang="en-IN" dirty="0" smtClean="0">
                <a:latin typeface="Arial Black" panose="020B0A04020102020204" pitchFamily="34" charset="0"/>
              </a:rPr>
              <a:t>DNS </a:t>
            </a:r>
            <a:r>
              <a:rPr lang="en-IN" dirty="0">
                <a:latin typeface="Arial Black" panose="020B0A04020102020204" pitchFamily="34" charset="0"/>
              </a:rPr>
              <a:t>means Domain Name System</a:t>
            </a:r>
            <a:r>
              <a:rPr lang="en-IN" dirty="0" smtClean="0">
                <a:latin typeface="Arial Black" panose="020B0A04020102020204" pitchFamily="34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DNS converts a website name into an IP address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Example</a:t>
            </a:r>
            <a:r>
              <a:rPr lang="en-US" dirty="0" smtClean="0">
                <a:latin typeface="Arial Black" panose="020B0A04020102020204" pitchFamily="34" charset="0"/>
              </a:rPr>
              <a:t>: www.google.com </a:t>
            </a:r>
            <a:r>
              <a:rPr lang="en-US" dirty="0">
                <a:latin typeface="Arial Black" panose="020B0A04020102020204" pitchFamily="34" charset="0"/>
              </a:rPr>
              <a:t>→ IP </a:t>
            </a:r>
            <a:r>
              <a:rPr lang="en-US" dirty="0" smtClean="0">
                <a:latin typeface="Arial Black" panose="020B0A04020102020204" pitchFamily="34" charset="0"/>
              </a:rPr>
              <a:t>Address</a:t>
            </a:r>
          </a:p>
          <a:p>
            <a:pPr marL="0" indent="0">
              <a:buNone/>
            </a:pPr>
            <a:r>
              <a:rPr lang="en-IN" dirty="0"/>
              <a:t>This makes it easier for people to </a:t>
            </a:r>
            <a:r>
              <a:rPr lang="en-IN" dirty="0" smtClean="0"/>
              <a:t>access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websites without </a:t>
            </a:r>
            <a:r>
              <a:rPr lang="en-IN" dirty="0" smtClean="0"/>
              <a:t>remembering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complicated IP addresses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endParaRPr lang="en-IN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+mj-lt"/>
              </a:rPr>
              <a:t>                   </a:t>
            </a:r>
          </a:p>
          <a:p>
            <a:pPr marL="0" indent="0">
              <a:buNone/>
            </a:pPr>
            <a:r>
              <a:rPr lang="en-US" sz="2000" dirty="0" smtClean="0">
                <a:latin typeface="+mj-lt"/>
              </a:rPr>
              <a:t>                      </a:t>
            </a:r>
            <a:r>
              <a:rPr lang="en-US" sz="2000" dirty="0" smtClean="0">
                <a:latin typeface="Arial Black" panose="020B0A04020102020204" pitchFamily="34" charset="0"/>
              </a:rPr>
              <a:t>Secure Web Communication</a:t>
            </a:r>
          </a:p>
          <a:p>
            <a:pPr marL="0" indent="0">
              <a:buNone/>
            </a:pPr>
            <a:r>
              <a:rPr lang="en-IN" b="1" dirty="0" smtClean="0"/>
              <a:t>Secure web communication </a:t>
            </a:r>
            <a:r>
              <a:rPr lang="en-IN" sz="2000" b="1" dirty="0" smtClean="0">
                <a:latin typeface="Arial Black" panose="020B0A04020102020204" pitchFamily="34" charset="0"/>
              </a:rPr>
              <a:t>protects information while using the Internet</a:t>
            </a:r>
            <a:r>
              <a:rPr lang="en-IN" b="1" dirty="0" smtClean="0">
                <a:latin typeface="+mj-lt"/>
              </a:rPr>
              <a:t>.</a:t>
            </a:r>
          </a:p>
          <a:p>
            <a:pPr marL="0" indent="0">
              <a:buNone/>
            </a:pPr>
            <a:r>
              <a:rPr lang="en-IN" dirty="0" smtClean="0">
                <a:latin typeface="+mj-lt"/>
              </a:rPr>
              <a:t>HTTPS </a:t>
            </a:r>
            <a:r>
              <a:rPr lang="en-IN" dirty="0">
                <a:latin typeface="+mj-lt"/>
              </a:rPr>
              <a:t>is used to secure websites</a:t>
            </a:r>
            <a:r>
              <a:rPr lang="en-IN" dirty="0" smtClean="0">
                <a:latin typeface="+mj-lt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+mj-lt"/>
              </a:rPr>
              <a:t>It </a:t>
            </a:r>
            <a:r>
              <a:rPr lang="en-US" dirty="0">
                <a:latin typeface="+mj-lt"/>
              </a:rPr>
              <a:t>helps </a:t>
            </a:r>
            <a:r>
              <a:rPr lang="en-US" dirty="0" smtClean="0">
                <a:latin typeface="+mj-lt"/>
              </a:rPr>
              <a:t>protect: </a:t>
            </a:r>
            <a:r>
              <a:rPr lang="en-US" dirty="0" smtClean="0">
                <a:latin typeface="Arial Black" panose="020B0A04020102020204" pitchFamily="34" charset="0"/>
              </a:rPr>
              <a:t>Passwords</a:t>
            </a: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                        Personal information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                        Login details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                        Online </a:t>
            </a:r>
            <a:r>
              <a:rPr lang="en-US" dirty="0">
                <a:latin typeface="Arial Black" panose="020B0A04020102020204" pitchFamily="34" charset="0"/>
              </a:rPr>
              <a:t>transactions</a:t>
            </a:r>
          </a:p>
        </p:txBody>
      </p:sp>
      <p:sp>
        <p:nvSpPr>
          <p:cNvPr id="4" name="AutoShape 2" descr="Generated image: DNS Made Simple: From Name to IP"/>
          <p:cNvSpPr>
            <a:spLocks noChangeAspect="1" noChangeArrowheads="1"/>
          </p:cNvSpPr>
          <p:nvPr/>
        </p:nvSpPr>
        <p:spPr bwMode="auto">
          <a:xfrm>
            <a:off x="155575" y="-19561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927" y="341194"/>
            <a:ext cx="4071646" cy="36439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287078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5227" y="169838"/>
            <a:ext cx="10223499" cy="5207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         Network </a:t>
            </a:r>
            <a:r>
              <a:rPr lang="en-US" b="1" dirty="0"/>
              <a:t>Routing &amp;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5227" y="745129"/>
            <a:ext cx="10604499" cy="6235700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Routing means finding the best path for data to travel from one network to another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US" dirty="0"/>
              <a:t>Example</a:t>
            </a:r>
            <a:r>
              <a:rPr lang="en-US" dirty="0" smtClean="0"/>
              <a:t>: Your </a:t>
            </a:r>
            <a:r>
              <a:rPr lang="en-US" dirty="0"/>
              <a:t>computer → Router → Internet → Web </a:t>
            </a:r>
            <a:r>
              <a:rPr lang="en-US" dirty="0" smtClean="0"/>
              <a:t>Server</a:t>
            </a:r>
          </a:p>
          <a:p>
            <a:pPr marL="0" indent="0">
              <a:buNone/>
            </a:pPr>
            <a:r>
              <a:rPr lang="en-US" dirty="0" smtClean="0">
                <a:latin typeface="Arial Black" panose="020B0A04020102020204" pitchFamily="34" charset="0"/>
              </a:rPr>
              <a:t>                           ARP </a:t>
            </a:r>
            <a:r>
              <a:rPr lang="en-US" dirty="0">
                <a:latin typeface="Arial Black" panose="020B0A04020102020204" pitchFamily="34" charset="0"/>
              </a:rPr>
              <a:t>— Address Resolution </a:t>
            </a:r>
            <a:r>
              <a:rPr lang="en-US" dirty="0" smtClean="0">
                <a:latin typeface="Arial Black" panose="020B0A04020102020204" pitchFamily="34" charset="0"/>
              </a:rPr>
              <a:t>Protocol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ARP finds the MAC address of a device when its IP address is </a:t>
            </a:r>
            <a:r>
              <a:rPr lang="en-IN" dirty="0" smtClean="0">
                <a:latin typeface="+mj-lt"/>
              </a:rPr>
              <a:t>known</a:t>
            </a:r>
            <a:r>
              <a:rPr lang="en-IN" dirty="0" smtClean="0">
                <a:latin typeface="Arial Black" panose="020B0A04020102020204" pitchFamily="34" charset="0"/>
              </a:rPr>
              <a:t>.</a:t>
            </a:r>
            <a:br>
              <a:rPr lang="en-IN" dirty="0" smtClean="0">
                <a:latin typeface="Arial Black" panose="020B0A04020102020204" pitchFamily="34" charset="0"/>
              </a:rPr>
            </a:br>
            <a:r>
              <a:rPr lang="en-IN" dirty="0" smtClean="0"/>
              <a:t>Example: IP </a:t>
            </a:r>
            <a:r>
              <a:rPr lang="en-IN" dirty="0"/>
              <a:t>address: 192.168.1.10 → ARP finds its MAC </a:t>
            </a:r>
            <a:r>
              <a:rPr lang="en-IN" dirty="0" smtClean="0"/>
              <a:t>address.</a:t>
            </a:r>
            <a:br>
              <a:rPr lang="en-IN" dirty="0" smtClean="0"/>
            </a:br>
            <a:r>
              <a:rPr lang="en-IN" dirty="0" smtClean="0"/>
              <a:t>Easy </a:t>
            </a:r>
            <a:r>
              <a:rPr lang="en-IN" dirty="0"/>
              <a:t>line:👉 ARP = IP address → MAC </a:t>
            </a:r>
            <a:r>
              <a:rPr lang="en-IN" dirty="0" smtClean="0"/>
              <a:t>address</a:t>
            </a:r>
            <a:br>
              <a:rPr lang="en-IN" dirty="0" smtClean="0"/>
            </a:br>
            <a:r>
              <a:rPr lang="en-IN" dirty="0" smtClean="0">
                <a:latin typeface="Arial Black" panose="020B0A04020102020204" pitchFamily="34" charset="0"/>
              </a:rPr>
              <a:t>How it work?</a:t>
            </a:r>
            <a:r>
              <a:rPr lang="en-IN" dirty="0">
                <a:latin typeface="Arial Black" panose="020B0A04020102020204" pitchFamily="34" charset="0"/>
              </a:rPr>
              <a:t/>
            </a:r>
            <a:br>
              <a:rPr lang="en-IN" dirty="0">
                <a:latin typeface="Arial Black" panose="020B0A04020102020204" pitchFamily="34" charset="0"/>
              </a:rPr>
            </a:br>
            <a:r>
              <a:rPr lang="en-IN" dirty="0" smtClean="0"/>
              <a:t>The </a:t>
            </a:r>
            <a:r>
              <a:rPr lang="en-IN" dirty="0">
                <a:hlinkClick r:id="rId2"/>
              </a:rPr>
              <a:t>Address Resolution Protocol (ARP)</a:t>
            </a:r>
            <a:r>
              <a:rPr lang="en-IN" dirty="0"/>
              <a:t> matches a device's logical IP address to its physical MAC address so data can reach the correct destination on a local network.</a:t>
            </a:r>
            <a:endParaRPr lang="en-IN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Address Resolution Protocol | Benefits and Types of AR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220" y="3988174"/>
            <a:ext cx="7574507" cy="271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8909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2300" y="0"/>
            <a:ext cx="9829799" cy="736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DHCP — Dynamic Host Configuration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8" y="736600"/>
            <a:ext cx="10541000" cy="6248400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DHCP </a:t>
            </a:r>
            <a:r>
              <a:rPr lang="en-IN" dirty="0"/>
              <a:t>automatically gives devices network information such </a:t>
            </a:r>
            <a:r>
              <a:rPr lang="en-IN" dirty="0" smtClean="0"/>
              <a:t>as:</a:t>
            </a:r>
          </a:p>
          <a:p>
            <a:pPr marL="0" indent="0">
              <a:buNone/>
            </a:pPr>
            <a:r>
              <a:rPr lang="en-IN" dirty="0" smtClean="0">
                <a:latin typeface="Arial Black" panose="020B0A04020102020204" pitchFamily="34" charset="0"/>
              </a:rPr>
              <a:t>IP address</a:t>
            </a:r>
            <a:br>
              <a:rPr lang="en-IN" dirty="0" smtClean="0">
                <a:latin typeface="Arial Black" panose="020B0A04020102020204" pitchFamily="34" charset="0"/>
              </a:rPr>
            </a:br>
            <a:r>
              <a:rPr lang="en-IN" dirty="0" smtClean="0">
                <a:latin typeface="Arial Black" panose="020B0A04020102020204" pitchFamily="34" charset="0"/>
              </a:rPr>
              <a:t>Subnet mask</a:t>
            </a:r>
            <a:br>
              <a:rPr lang="en-IN" dirty="0" smtClean="0">
                <a:latin typeface="Arial Black" panose="020B0A04020102020204" pitchFamily="34" charset="0"/>
              </a:rPr>
            </a:br>
            <a:r>
              <a:rPr lang="en-IN" dirty="0" smtClean="0">
                <a:latin typeface="Arial Black" panose="020B0A04020102020204" pitchFamily="34" charset="0"/>
              </a:rPr>
              <a:t>Default gateway</a:t>
            </a:r>
            <a:br>
              <a:rPr lang="en-IN" dirty="0" smtClean="0">
                <a:latin typeface="Arial Black" panose="020B0A04020102020204" pitchFamily="34" charset="0"/>
              </a:rPr>
            </a:br>
            <a:r>
              <a:rPr lang="en-IN" dirty="0" smtClean="0">
                <a:latin typeface="Arial Black" panose="020B0A04020102020204" pitchFamily="34" charset="0"/>
              </a:rPr>
              <a:t>DNS server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>
                <a:latin typeface="+mj-lt"/>
              </a:rPr>
              <a:t>Easy line</a:t>
            </a:r>
            <a:r>
              <a:rPr lang="en-IN" dirty="0" smtClean="0"/>
              <a:t>: DHCP </a:t>
            </a:r>
            <a:r>
              <a:rPr lang="en-IN" dirty="0"/>
              <a:t>automatically gives an IP address to a device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How DHCP </a:t>
            </a:r>
            <a:r>
              <a:rPr lang="en-IN" dirty="0" smtClean="0">
                <a:latin typeface="Arial Black" panose="020B0A04020102020204" pitchFamily="34" charset="0"/>
              </a:rPr>
              <a:t>works?</a:t>
            </a:r>
            <a:br>
              <a:rPr lang="en-IN" dirty="0" smtClean="0">
                <a:latin typeface="Arial Black" panose="020B0A04020102020204" pitchFamily="34" charset="0"/>
              </a:rPr>
            </a:br>
            <a:r>
              <a:rPr lang="en-IN" dirty="0" smtClean="0"/>
              <a:t>When </a:t>
            </a:r>
            <a:r>
              <a:rPr lang="en-IN" dirty="0"/>
              <a:t>you connect your computer or </a:t>
            </a:r>
            <a:r>
              <a:rPr lang="en-IN" dirty="0" smtClean="0"/>
              <a:t>phone</a:t>
            </a:r>
            <a:br>
              <a:rPr lang="en-IN" dirty="0" smtClean="0"/>
            </a:br>
            <a:r>
              <a:rPr lang="en-IN" dirty="0" smtClean="0"/>
              <a:t> </a:t>
            </a:r>
            <a:r>
              <a:rPr lang="en-IN" dirty="0"/>
              <a:t>to a </a:t>
            </a:r>
            <a:r>
              <a:rPr lang="en-IN" dirty="0" smtClean="0"/>
              <a:t>network , DHCP automatically</a:t>
            </a:r>
            <a:br>
              <a:rPr lang="en-IN" dirty="0" smtClean="0"/>
            </a:br>
            <a:r>
              <a:rPr lang="en-IN" dirty="0" smtClean="0"/>
              <a:t>gives </a:t>
            </a:r>
            <a:r>
              <a:rPr lang="en-IN" dirty="0"/>
              <a:t>it an IP </a:t>
            </a:r>
            <a:r>
              <a:rPr lang="en-IN" dirty="0" smtClean="0"/>
              <a:t>address.</a:t>
            </a:r>
            <a:br>
              <a:rPr lang="en-IN" dirty="0" smtClean="0"/>
            </a:br>
            <a:r>
              <a:rPr lang="en-US" dirty="0" smtClean="0">
                <a:latin typeface="Arial Black" panose="020B0A04020102020204" pitchFamily="34" charset="0"/>
              </a:rPr>
              <a:t>follows </a:t>
            </a:r>
            <a:r>
              <a:rPr lang="en-US" dirty="0">
                <a:latin typeface="Arial Black" panose="020B0A04020102020204" pitchFamily="34" charset="0"/>
              </a:rPr>
              <a:t>4 steps </a:t>
            </a:r>
            <a:r>
              <a:rPr lang="en-US" dirty="0" smtClean="0">
                <a:latin typeface="Arial Black" panose="020B0A04020102020204" pitchFamily="34" charset="0"/>
              </a:rPr>
              <a:t>: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/>
              <a:t>1.Discover </a:t>
            </a:r>
            <a:r>
              <a:rPr lang="en-US" dirty="0"/>
              <a:t>📢 – Device looks for a DHCP </a:t>
            </a:r>
            <a:r>
              <a:rPr lang="en-US" dirty="0" smtClean="0"/>
              <a:t>server.</a:t>
            </a:r>
            <a:br>
              <a:rPr lang="en-US" dirty="0" smtClean="0"/>
            </a:br>
            <a:r>
              <a:rPr lang="en-US" dirty="0" smtClean="0"/>
              <a:t>2.Offer </a:t>
            </a:r>
            <a:r>
              <a:rPr lang="en-US" dirty="0"/>
              <a:t>📩 – DHCP server offers an IP </a:t>
            </a:r>
            <a:r>
              <a:rPr lang="en-US" dirty="0" smtClean="0"/>
              <a:t>address.</a:t>
            </a:r>
            <a:br>
              <a:rPr lang="en-US" dirty="0" smtClean="0"/>
            </a:br>
            <a:r>
              <a:rPr lang="en-US" dirty="0" smtClean="0"/>
              <a:t>3.Request </a:t>
            </a:r>
            <a:r>
              <a:rPr lang="en-US" dirty="0"/>
              <a:t>🙋 – Device requests that IP </a:t>
            </a:r>
            <a:r>
              <a:rPr lang="en-US" dirty="0" smtClean="0"/>
              <a:t>address.</a:t>
            </a:r>
            <a:br>
              <a:rPr lang="en-US" dirty="0" smtClean="0"/>
            </a:br>
            <a:r>
              <a:rPr lang="en-US" dirty="0" smtClean="0"/>
              <a:t>4.Acknowledge </a:t>
            </a:r>
            <a:r>
              <a:rPr lang="en-US" dirty="0"/>
              <a:t>✅ – Server confirms and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assigns </a:t>
            </a:r>
            <a:r>
              <a:rPr lang="en-US" dirty="0"/>
              <a:t>the IP.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325" y="2605552"/>
            <a:ext cx="4637773" cy="402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316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630" y="88900"/>
            <a:ext cx="8911687" cy="635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NAT — Network Address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0436" y="723900"/>
            <a:ext cx="10553889" cy="6146800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NAT converts private IP addresses into a public IP address when devices access the Internet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latin typeface="Arial Black" panose="020B0A04020102020204" pitchFamily="34" charset="0"/>
              </a:rPr>
              <a:t>Example</a:t>
            </a:r>
            <a:r>
              <a:rPr lang="en-US" dirty="0" smtClean="0"/>
              <a:t>: PC </a:t>
            </a:r>
            <a:r>
              <a:rPr lang="en-US" dirty="0"/>
              <a:t>(192.168.1.5) → Router/NAT → </a:t>
            </a:r>
            <a:r>
              <a:rPr lang="en-US" dirty="0" smtClean="0"/>
              <a:t>Internet</a:t>
            </a:r>
            <a:br>
              <a:rPr lang="en-US" dirty="0" smtClean="0"/>
            </a:br>
            <a:r>
              <a:rPr lang="en-IN" dirty="0" smtClean="0">
                <a:latin typeface="Arial Black" panose="020B0A04020102020204" pitchFamily="34" charset="0"/>
              </a:rPr>
              <a:t>Easy </a:t>
            </a:r>
            <a:r>
              <a:rPr lang="en-IN" dirty="0">
                <a:latin typeface="Arial Black" panose="020B0A04020102020204" pitchFamily="34" charset="0"/>
              </a:rPr>
              <a:t>line</a:t>
            </a:r>
            <a:r>
              <a:rPr lang="en-IN" dirty="0" smtClean="0">
                <a:latin typeface="Arial Black" panose="020B0A04020102020204" pitchFamily="34" charset="0"/>
              </a:rPr>
              <a:t>: </a:t>
            </a:r>
            <a:r>
              <a:rPr lang="en-IN" dirty="0"/>
              <a:t>NAT allows private devices to access the Internet using a public IP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What NAT </a:t>
            </a:r>
            <a:r>
              <a:rPr lang="en-IN" dirty="0" smtClean="0">
                <a:latin typeface="Arial Black" panose="020B0A04020102020204" pitchFamily="34" charset="0"/>
              </a:rPr>
              <a:t>does</a:t>
            </a:r>
            <a:r>
              <a:rPr lang="en-IN" dirty="0" smtClean="0"/>
              <a:t>?</a:t>
            </a:r>
          </a:p>
          <a:p>
            <a:pPr marL="0" indent="0">
              <a:buNone/>
            </a:pPr>
            <a:r>
              <a:rPr lang="en-IN" dirty="0" smtClean="0">
                <a:latin typeface="Arial Black" panose="020B0A04020102020204" pitchFamily="34" charset="0"/>
              </a:rPr>
              <a:t>Private </a:t>
            </a:r>
            <a:r>
              <a:rPr lang="en-IN" dirty="0">
                <a:latin typeface="Arial Black" panose="020B0A04020102020204" pitchFamily="34" charset="0"/>
              </a:rPr>
              <a:t>IP → </a:t>
            </a:r>
            <a:r>
              <a:rPr lang="en-IN" dirty="0" smtClean="0">
                <a:latin typeface="Arial Black" panose="020B0A04020102020204" pitchFamily="34" charset="0"/>
              </a:rPr>
              <a:t>NAT</a:t>
            </a:r>
            <a:r>
              <a:rPr lang="en-IN" dirty="0" smtClean="0"/>
              <a:t> </a:t>
            </a:r>
            <a:r>
              <a:rPr lang="en-IN" dirty="0" smtClean="0">
                <a:latin typeface="Arial Black" panose="020B0A04020102020204" pitchFamily="34" charset="0"/>
              </a:rPr>
              <a:t>:</a:t>
            </a:r>
            <a:r>
              <a:rPr lang="en-IN" dirty="0" smtClean="0"/>
              <a:t>The </a:t>
            </a:r>
            <a:r>
              <a:rPr lang="en-IN" dirty="0"/>
              <a:t>computers send data using their private IP </a:t>
            </a:r>
            <a:r>
              <a:rPr lang="en-IN" dirty="0" smtClean="0"/>
              <a:t>addresses.</a:t>
            </a:r>
            <a:br>
              <a:rPr lang="en-IN" dirty="0" smtClean="0"/>
            </a:br>
            <a:r>
              <a:rPr lang="en-IN" dirty="0" smtClean="0">
                <a:latin typeface="Arial Black" panose="020B0A04020102020204" pitchFamily="34" charset="0"/>
              </a:rPr>
              <a:t>NAT </a:t>
            </a:r>
            <a:r>
              <a:rPr lang="en-IN" dirty="0">
                <a:latin typeface="Arial Black" panose="020B0A04020102020204" pitchFamily="34" charset="0"/>
              </a:rPr>
              <a:t>changes the </a:t>
            </a:r>
            <a:r>
              <a:rPr lang="en-IN" dirty="0" smtClean="0">
                <a:latin typeface="Arial Black" panose="020B0A04020102020204" pitchFamily="34" charset="0"/>
              </a:rPr>
              <a:t>address: </a:t>
            </a:r>
            <a:r>
              <a:rPr lang="en-IN" dirty="0" smtClean="0"/>
              <a:t>The </a:t>
            </a:r>
            <a:r>
              <a:rPr lang="en-IN" dirty="0"/>
              <a:t>NAT router translates the private </a:t>
            </a:r>
            <a:r>
              <a:rPr lang="en-IN" dirty="0" smtClean="0"/>
              <a:t>IP </a:t>
            </a:r>
            <a:r>
              <a:rPr lang="en-IN" dirty="0"/>
              <a:t>information so the traffic can use one public IP </a:t>
            </a:r>
            <a:r>
              <a:rPr lang="en-IN" dirty="0" smtClean="0"/>
              <a:t>address.</a:t>
            </a:r>
            <a:br>
              <a:rPr lang="en-IN" dirty="0" smtClean="0"/>
            </a:br>
            <a:r>
              <a:rPr lang="en-IN" dirty="0" smtClean="0">
                <a:latin typeface="Arial Black" panose="020B0A04020102020204" pitchFamily="34" charset="0"/>
              </a:rPr>
              <a:t>Public </a:t>
            </a:r>
            <a:r>
              <a:rPr lang="en-IN" dirty="0">
                <a:latin typeface="Arial Black" panose="020B0A04020102020204" pitchFamily="34" charset="0"/>
              </a:rPr>
              <a:t>IP → Internet 🌐</a:t>
            </a:r>
            <a:r>
              <a:rPr lang="en-IN" dirty="0"/>
              <a:t>The request goes to the Internet using the public </a:t>
            </a:r>
            <a:r>
              <a:rPr lang="en-IN" dirty="0" smtClean="0"/>
              <a:t>IP.</a:t>
            </a:r>
            <a:br>
              <a:rPr lang="en-IN" dirty="0" smtClean="0"/>
            </a:br>
            <a:r>
              <a:rPr lang="en-IN" dirty="0" smtClean="0">
                <a:latin typeface="Arial Black" panose="020B0A04020102020204" pitchFamily="34" charset="0"/>
              </a:rPr>
              <a:t>Response </a:t>
            </a:r>
            <a:r>
              <a:rPr lang="en-IN" dirty="0">
                <a:latin typeface="Arial Black" panose="020B0A04020102020204" pitchFamily="34" charset="0"/>
              </a:rPr>
              <a:t>comes </a:t>
            </a:r>
            <a:r>
              <a:rPr lang="en-IN" dirty="0" smtClean="0">
                <a:latin typeface="Arial Black" panose="020B0A04020102020204" pitchFamily="34" charset="0"/>
              </a:rPr>
              <a:t>back :</a:t>
            </a:r>
            <a:r>
              <a:rPr lang="en-IN" dirty="0" smtClean="0"/>
              <a:t>When </a:t>
            </a:r>
            <a:r>
              <a:rPr lang="en-IN" dirty="0"/>
              <a:t>the Internet sends a response, the NAT router knows which computer requested it and sends the response to the correct private IP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630" y="4271749"/>
            <a:ext cx="7670042" cy="241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475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801" y="101600"/>
            <a:ext cx="9802812" cy="635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                  Routing </a:t>
            </a:r>
            <a:r>
              <a:rPr lang="en-US" b="1" dirty="0"/>
              <a:t>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5612" y="736600"/>
            <a:ext cx="10466388" cy="61214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RIP</a:t>
            </a:r>
            <a:r>
              <a:rPr lang="en-US" dirty="0"/>
              <a:t> — </a:t>
            </a:r>
            <a:r>
              <a:rPr lang="en-US" dirty="0">
                <a:latin typeface="Arial Black" panose="020B0A04020102020204" pitchFamily="34" charset="0"/>
              </a:rPr>
              <a:t>Routing Information </a:t>
            </a:r>
            <a:r>
              <a:rPr lang="en-US" dirty="0" smtClean="0">
                <a:latin typeface="Arial Black" panose="020B0A04020102020204" pitchFamily="34" charset="0"/>
              </a:rPr>
              <a:t>Protocol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RIP is a routing protocol used by routers to find the best path for sending data from one network to another</a:t>
            </a:r>
            <a:r>
              <a:rPr lang="en-IN" dirty="0" smtClean="0">
                <a:latin typeface="Arial Black" panose="020B0A040201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Easy </a:t>
            </a:r>
            <a:r>
              <a:rPr lang="en-US" dirty="0" smtClean="0">
                <a:latin typeface="Arial Black" panose="020B0A04020102020204" pitchFamily="34" charset="0"/>
              </a:rPr>
              <a:t>example: </a:t>
            </a:r>
            <a:r>
              <a:rPr lang="en-US" dirty="0" smtClean="0"/>
              <a:t>There </a:t>
            </a:r>
            <a:r>
              <a:rPr lang="en-US" dirty="0"/>
              <a:t>are 3 </a:t>
            </a:r>
            <a:r>
              <a:rPr lang="en-US" dirty="0" smtClean="0"/>
              <a:t>routers</a:t>
            </a:r>
            <a:br>
              <a:rPr lang="en-US" dirty="0" smtClean="0"/>
            </a:br>
            <a:r>
              <a:rPr lang="en-US" dirty="0" smtClean="0"/>
              <a:t>PC </a:t>
            </a:r>
            <a:r>
              <a:rPr lang="en-US" dirty="0"/>
              <a:t>→ Router 1 → Router 2 → Router 3 → </a:t>
            </a:r>
            <a:r>
              <a:rPr lang="en-US" dirty="0" smtClean="0"/>
              <a:t>Server</a:t>
            </a:r>
            <a:br>
              <a:rPr lang="en-US" dirty="0" smtClean="0"/>
            </a:br>
            <a:r>
              <a:rPr lang="en-US" dirty="0" smtClean="0"/>
              <a:t>RIP </a:t>
            </a:r>
            <a:r>
              <a:rPr lang="en-US" dirty="0"/>
              <a:t>counts how many routers (hops) the data must cross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Router </a:t>
            </a:r>
            <a:r>
              <a:rPr lang="en-US" dirty="0"/>
              <a:t>1 → Router 2 = 1 </a:t>
            </a:r>
            <a:r>
              <a:rPr lang="en-US" dirty="0" smtClean="0"/>
              <a:t>hop</a:t>
            </a:r>
          </a:p>
          <a:p>
            <a:pPr marL="0" indent="0">
              <a:buNone/>
            </a:pPr>
            <a:r>
              <a:rPr lang="en-US" dirty="0" smtClean="0"/>
              <a:t>Router </a:t>
            </a:r>
            <a:r>
              <a:rPr lang="en-US" dirty="0"/>
              <a:t>2 → Router 3 = 1 </a:t>
            </a:r>
            <a:r>
              <a:rPr lang="en-US" dirty="0" smtClean="0"/>
              <a:t>hop</a:t>
            </a:r>
          </a:p>
          <a:p>
            <a:pPr marL="0" indent="0">
              <a:buNone/>
            </a:pPr>
            <a:r>
              <a:rPr lang="en-US" dirty="0" smtClean="0"/>
              <a:t>Total </a:t>
            </a:r>
            <a:r>
              <a:rPr lang="en-US" dirty="0"/>
              <a:t>= 2 </a:t>
            </a:r>
            <a:r>
              <a:rPr lang="en-US" dirty="0" smtClean="0"/>
              <a:t>hops 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What is a hop? </a:t>
            </a:r>
            <a:endParaRPr lang="en-IN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IN" dirty="0" smtClean="0"/>
              <a:t>A </a:t>
            </a:r>
            <a:r>
              <a:rPr lang="en-IN" dirty="0"/>
              <a:t>hop is one step from one 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router </a:t>
            </a:r>
            <a:r>
              <a:rPr lang="en-IN" dirty="0"/>
              <a:t>to the next router</a:t>
            </a:r>
            <a:r>
              <a:rPr lang="en-IN" dirty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2882900"/>
            <a:ext cx="68199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7027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9427" y="136478"/>
            <a:ext cx="8925185" cy="51861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  </a:t>
            </a:r>
            <a:r>
              <a:rPr lang="en-IN" b="1" dirty="0" smtClean="0"/>
              <a:t>OSPF </a:t>
            </a:r>
            <a:r>
              <a:rPr lang="en-IN" b="1" dirty="0"/>
              <a:t>— Open Shortest Path First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7731" y="655093"/>
            <a:ext cx="9866881" cy="525612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I</a:t>
            </a:r>
            <a:r>
              <a:rPr lang="en-IN" dirty="0" smtClean="0">
                <a:latin typeface="Arial Black" panose="020B0A04020102020204" pitchFamily="34" charset="0"/>
              </a:rPr>
              <a:t>t </a:t>
            </a:r>
            <a:r>
              <a:rPr lang="en-IN" dirty="0">
                <a:latin typeface="Arial Black" panose="020B0A04020102020204" pitchFamily="34" charset="0"/>
              </a:rPr>
              <a:t>is a routing protocol used by routers to find the best path for sending data between </a:t>
            </a:r>
            <a:r>
              <a:rPr lang="en-IN" dirty="0" smtClean="0">
                <a:latin typeface="Arial Black" panose="020B0A04020102020204" pitchFamily="34" charset="0"/>
              </a:rPr>
              <a:t>networks</a:t>
            </a:r>
            <a:r>
              <a:rPr lang="en-IN" dirty="0" smtClean="0"/>
              <a:t>.</a:t>
            </a:r>
            <a:br>
              <a:rPr lang="en-IN" dirty="0" smtClean="0"/>
            </a:br>
            <a:r>
              <a:rPr lang="en-IN" dirty="0" smtClean="0">
                <a:latin typeface="Arial Black" panose="020B0A04020102020204" pitchFamily="34" charset="0"/>
              </a:rPr>
              <a:t>Easy </a:t>
            </a:r>
            <a:r>
              <a:rPr lang="en-IN" dirty="0">
                <a:latin typeface="Arial Black" panose="020B0A04020102020204" pitchFamily="34" charset="0"/>
              </a:rPr>
              <a:t>meaning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IN" dirty="0" smtClean="0"/>
              <a:t> OSPF </a:t>
            </a:r>
            <a:r>
              <a:rPr lang="en-IN" dirty="0"/>
              <a:t>= Router finds the shortest/best 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path </a:t>
            </a:r>
            <a:r>
              <a:rPr lang="en-IN" dirty="0"/>
              <a:t>for data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Why do we use OSPF</a:t>
            </a:r>
            <a:r>
              <a:rPr lang="en-IN" dirty="0" smtClean="0"/>
              <a:t>?</a:t>
            </a:r>
            <a:br>
              <a:rPr lang="en-IN" dirty="0" smtClean="0"/>
            </a:br>
            <a:r>
              <a:rPr lang="en-IN" dirty="0" smtClean="0"/>
              <a:t> </a:t>
            </a:r>
            <a:r>
              <a:rPr lang="en-IN" dirty="0"/>
              <a:t>To send data </a:t>
            </a:r>
            <a:r>
              <a:rPr lang="en-IN" dirty="0" smtClean="0"/>
              <a:t>efficiently</a:t>
            </a:r>
            <a:br>
              <a:rPr lang="en-IN" dirty="0" smtClean="0"/>
            </a:br>
            <a:r>
              <a:rPr lang="en-IN" dirty="0" smtClean="0"/>
              <a:t>To </a:t>
            </a:r>
            <a:r>
              <a:rPr lang="en-IN" dirty="0"/>
              <a:t>choose the best </a:t>
            </a:r>
            <a:r>
              <a:rPr lang="en-IN" dirty="0" smtClean="0"/>
              <a:t>route</a:t>
            </a:r>
            <a:br>
              <a:rPr lang="en-IN" dirty="0" smtClean="0"/>
            </a:br>
            <a:r>
              <a:rPr lang="en-IN" dirty="0" smtClean="0"/>
              <a:t>To </a:t>
            </a:r>
            <a:r>
              <a:rPr lang="en-IN" dirty="0"/>
              <a:t>find a new route if one path </a:t>
            </a:r>
            <a:r>
              <a:rPr lang="en-IN" dirty="0" smtClean="0"/>
              <a:t>fails</a:t>
            </a:r>
            <a:br>
              <a:rPr lang="en-IN" dirty="0" smtClean="0"/>
            </a:br>
            <a:r>
              <a:rPr lang="en-IN" dirty="0" smtClean="0"/>
              <a:t>To </a:t>
            </a:r>
            <a:r>
              <a:rPr lang="en-IN" dirty="0"/>
              <a:t>avoid setting every route </a:t>
            </a:r>
            <a:r>
              <a:rPr lang="en-IN" dirty="0" smtClean="0"/>
              <a:t>manually</a:t>
            </a:r>
          </a:p>
          <a:p>
            <a:pPr marL="0" indent="0">
              <a:buNone/>
            </a:pPr>
            <a:r>
              <a:rPr lang="pt-BR" dirty="0">
                <a:latin typeface="Arial Black" panose="020B0A04020102020204" pitchFamily="34" charset="0"/>
              </a:rPr>
              <a:t>Easy </a:t>
            </a:r>
            <a:r>
              <a:rPr lang="pt-BR" dirty="0" smtClean="0">
                <a:latin typeface="Arial Black" panose="020B0A04020102020204" pitchFamily="34" charset="0"/>
              </a:rPr>
              <a:t>example</a:t>
            </a:r>
          </a:p>
          <a:p>
            <a:pPr marL="0" indent="0">
              <a:buNone/>
            </a:pPr>
            <a:r>
              <a:rPr lang="pt-BR" dirty="0" smtClean="0">
                <a:latin typeface="Arial Black" panose="020B0A04020102020204" pitchFamily="34" charset="0"/>
              </a:rPr>
              <a:t> </a:t>
            </a:r>
            <a:r>
              <a:rPr lang="pt-BR" dirty="0" smtClean="0"/>
              <a:t>PC </a:t>
            </a:r>
            <a:r>
              <a:rPr lang="pt-BR" dirty="0"/>
              <a:t>→ R1 → R2 → Server </a:t>
            </a:r>
            <a:r>
              <a:rPr lang="pt-BR" dirty="0" smtClean="0"/>
              <a:t>✅</a:t>
            </a:r>
          </a:p>
          <a:p>
            <a:pPr marL="0" indent="0">
              <a:buNone/>
            </a:pPr>
            <a:r>
              <a:rPr lang="pt-BR" dirty="0" smtClean="0"/>
              <a:t>PC </a:t>
            </a:r>
            <a:r>
              <a:rPr lang="pt-BR" dirty="0"/>
              <a:t>→ R1 → R3 → R4 → Server ❌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958" y="1282891"/>
            <a:ext cx="5977720" cy="514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702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2995" y="40943"/>
            <a:ext cx="9114205" cy="49131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BGP — Border Gateway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9618" y="532262"/>
            <a:ext cx="10472382" cy="63257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BGP (Border Gateway Protocol) is a routing protocol used to find the best path between different networks on the </a:t>
            </a:r>
            <a:r>
              <a:rPr lang="en-IN" dirty="0" smtClean="0">
                <a:latin typeface="Arial Black" panose="020B0A04020102020204" pitchFamily="34" charset="0"/>
              </a:rPr>
              <a:t>Internet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Easy real-life </a:t>
            </a:r>
            <a:r>
              <a:rPr lang="en-IN" dirty="0" smtClean="0">
                <a:latin typeface="Arial Black" panose="020B0A04020102020204" pitchFamily="34" charset="0"/>
              </a:rPr>
              <a:t>example</a:t>
            </a:r>
            <a:br>
              <a:rPr lang="en-IN" dirty="0" smtClean="0">
                <a:latin typeface="Arial Black" panose="020B0A04020102020204" pitchFamily="34" charset="0"/>
              </a:rPr>
            </a:br>
            <a:r>
              <a:rPr lang="en-IN" dirty="0" smtClean="0">
                <a:latin typeface="+mj-lt"/>
              </a:rPr>
              <a:t>Imagine </a:t>
            </a:r>
            <a:r>
              <a:rPr lang="en-IN" dirty="0">
                <a:latin typeface="+mj-lt"/>
              </a:rPr>
              <a:t>you want to go to Mumbai and Google Maps shows 3 </a:t>
            </a:r>
            <a:r>
              <a:rPr lang="en-IN" dirty="0" smtClean="0">
                <a:latin typeface="+mj-lt"/>
              </a:rPr>
              <a:t>roads.</a:t>
            </a:r>
            <a:br>
              <a:rPr lang="en-IN" dirty="0" smtClean="0">
                <a:latin typeface="+mj-lt"/>
              </a:rPr>
            </a:br>
            <a:r>
              <a:rPr lang="en-IN" dirty="0" smtClean="0">
                <a:latin typeface="AmenianMaralSSK" panose="00000700000000000000" pitchFamily="2" charset="0"/>
              </a:rPr>
              <a:t>BGP</a:t>
            </a:r>
            <a:r>
              <a:rPr lang="en-IN" dirty="0" smtClean="0">
                <a:latin typeface="+mj-lt"/>
              </a:rPr>
              <a:t> </a:t>
            </a:r>
            <a:r>
              <a:rPr lang="en-IN" dirty="0">
                <a:latin typeface="+mj-lt"/>
              </a:rPr>
              <a:t>is like Google Maps for networks. It helps routers decide which network path should be used </a:t>
            </a:r>
            <a:r>
              <a:rPr lang="en-IN" dirty="0" smtClean="0">
                <a:latin typeface="+mj-lt"/>
              </a:rPr>
              <a:t>to </a:t>
            </a:r>
            <a:r>
              <a:rPr lang="en-IN" dirty="0">
                <a:latin typeface="+mj-lt"/>
              </a:rPr>
              <a:t>reach the </a:t>
            </a:r>
            <a:r>
              <a:rPr lang="en-IN" dirty="0" smtClean="0">
                <a:latin typeface="+mj-lt"/>
              </a:rPr>
              <a:t>destination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Why do we use </a:t>
            </a:r>
            <a:r>
              <a:rPr lang="en-IN" dirty="0" smtClean="0">
                <a:latin typeface="Arial Black" panose="020B0A04020102020204" pitchFamily="34" charset="0"/>
              </a:rPr>
              <a:t>BGP?</a:t>
            </a:r>
            <a:br>
              <a:rPr lang="en-IN" dirty="0" smtClean="0">
                <a:latin typeface="Arial Black" panose="020B0A04020102020204" pitchFamily="34" charset="0"/>
              </a:rPr>
            </a:br>
            <a:r>
              <a:rPr lang="en-IN" dirty="0" smtClean="0">
                <a:latin typeface="+mj-lt"/>
              </a:rPr>
              <a:t>Because </a:t>
            </a:r>
            <a:r>
              <a:rPr lang="en-IN" dirty="0">
                <a:latin typeface="+mj-lt"/>
              </a:rPr>
              <a:t>the Internet has millions of different networks. BGP helps these networks exchange routing </a:t>
            </a:r>
            <a:r>
              <a:rPr lang="en-IN" dirty="0" smtClean="0">
                <a:latin typeface="+mj-lt"/>
              </a:rPr>
              <a:t>inform</a:t>
            </a:r>
          </a:p>
          <a:p>
            <a:pPr marL="0" indent="0">
              <a:buNone/>
            </a:pPr>
            <a:r>
              <a:rPr lang="en-IN" dirty="0" smtClean="0">
                <a:latin typeface="Arial Black" panose="020B0A04020102020204" pitchFamily="34" charset="0"/>
              </a:rPr>
              <a:t>For Example: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Your PC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  ↓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ISP 1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  ↓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ISP 2</a:t>
            </a: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  ↓</a:t>
            </a:r>
          </a:p>
          <a:p>
            <a:pPr marL="0" indent="0">
              <a:buNone/>
            </a:pPr>
            <a:r>
              <a:rPr lang="en-IN" dirty="0" smtClean="0">
                <a:latin typeface="Arial Black" panose="020B0A04020102020204" pitchFamily="34" charset="0"/>
              </a:rPr>
              <a:t>Google.</a:t>
            </a:r>
          </a:p>
          <a:p>
            <a:pPr marL="0" indent="0">
              <a:buNone/>
            </a:pPr>
            <a:r>
              <a:rPr lang="en-IN" dirty="0" smtClean="0">
                <a:latin typeface="Arial Black" panose="020B0A04020102020204" pitchFamily="34" charset="0"/>
              </a:rPr>
              <a:t>If </a:t>
            </a:r>
            <a:r>
              <a:rPr lang="en-IN" dirty="0">
                <a:latin typeface="Arial Black" panose="020B0A04020102020204" pitchFamily="34" charset="0"/>
              </a:rPr>
              <a:t>the ISP 2 route is unavailable, </a:t>
            </a:r>
            <a:r>
              <a:rPr lang="en-IN" dirty="0" smtClean="0">
                <a:latin typeface="Arial Black" panose="020B0A04020102020204" pitchFamily="34" charset="0"/>
              </a:rPr>
              <a:t/>
            </a:r>
            <a:br>
              <a:rPr lang="en-IN" dirty="0" smtClean="0">
                <a:latin typeface="Arial Black" panose="020B0A04020102020204" pitchFamily="34" charset="0"/>
              </a:rPr>
            </a:br>
            <a:r>
              <a:rPr lang="en-IN" dirty="0" smtClean="0">
                <a:latin typeface="Arial Black" panose="020B0A04020102020204" pitchFamily="34" charset="0"/>
              </a:rPr>
              <a:t>BGP </a:t>
            </a:r>
            <a:r>
              <a:rPr lang="en-IN" dirty="0">
                <a:latin typeface="Arial Black" panose="020B0A04020102020204" pitchFamily="34" charset="0"/>
              </a:rPr>
              <a:t>can use another available </a:t>
            </a:r>
            <a:r>
              <a:rPr lang="en-IN" dirty="0" smtClean="0">
                <a:latin typeface="Arial Black" panose="020B0A04020102020204" pitchFamily="34" charset="0"/>
              </a:rPr>
              <a:t>route</a:t>
            </a:r>
            <a:endParaRPr lang="en-US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334" y="2797792"/>
            <a:ext cx="5540992" cy="395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447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493" y="0"/>
            <a:ext cx="9676262" cy="1064525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DHCP HHTP DNS configuration in cisco packet tracer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038" y="1201003"/>
            <a:ext cx="9934575" cy="433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502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901" y="136478"/>
            <a:ext cx="10677099" cy="3875964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latin typeface="AmenianMaralSSK" panose="00000700000000000000" pitchFamily="2" charset="0"/>
              </a:rPr>
              <a:t>Router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>
                <a:latin typeface="AmenianMaralSSK" panose="00000700000000000000" pitchFamily="2" charset="0"/>
              </a:rPr>
              <a:t>server to </a:t>
            </a:r>
            <a:r>
              <a:rPr lang="en-IN" dirty="0" err="1" smtClean="0">
                <a:latin typeface="AmenianMaralSSK" panose="00000700000000000000" pitchFamily="2" charset="0"/>
              </a:rPr>
              <a:t>ip</a:t>
            </a:r>
            <a:r>
              <a:rPr lang="en-IN" dirty="0" smtClean="0">
                <a:latin typeface="AmenianMaralSSK" panose="00000700000000000000" pitchFamily="2" charset="0"/>
              </a:rPr>
              <a:t> 0            server 1            server 2</a:t>
            </a:r>
            <a:br>
              <a:rPr lang="en-IN" dirty="0" smtClean="0">
                <a:latin typeface="AmenianMaralSSK" panose="00000700000000000000" pitchFamily="2" charset="0"/>
              </a:rPr>
            </a:br>
            <a:endParaRPr lang="en-US" dirty="0">
              <a:latin typeface="AmenianMaralSSK" panose="00000700000000000000" pitchFamily="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4084" y="668740"/>
            <a:ext cx="10428833" cy="22791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902" y="3609834"/>
            <a:ext cx="3002508" cy="28848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287" y="3609834"/>
            <a:ext cx="3427418" cy="28848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581" y="3609835"/>
            <a:ext cx="3288335" cy="28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2129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845" y="0"/>
            <a:ext cx="9948767" cy="55955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              Router IP Configuration</a:t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>
                <a:latin typeface="AmenianMaralSSK" panose="00000700000000000000" pitchFamily="2" charset="0"/>
              </a:rPr>
              <a:t>Router  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> </a:t>
            </a:r>
            <a:r>
              <a:rPr lang="en-IN" dirty="0" smtClean="0"/>
              <a:t>                                 </a:t>
            </a:r>
            <a:endParaRPr lang="en-US" sz="31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5845" y="559558"/>
            <a:ext cx="10636155" cy="23474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997" y="3026723"/>
            <a:ext cx="9162197" cy="402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276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iving thanks for critical infrastructure and security staff and why cybersecurity is a national prior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2513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5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833</TotalTime>
  <Words>1009</Words>
  <Application>Microsoft Office PowerPoint</Application>
  <PresentationFormat>Widescreen</PresentationFormat>
  <Paragraphs>238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Algerian</vt:lpstr>
      <vt:lpstr>AmenianMaralSSK</vt:lpstr>
      <vt:lpstr>Arial</vt:lpstr>
      <vt:lpstr>Arial Black</vt:lpstr>
      <vt:lpstr>Calibri</vt:lpstr>
      <vt:lpstr>Century Gothic</vt:lpstr>
      <vt:lpstr>Google Sans Text</vt:lpstr>
      <vt:lpstr>Wingdings 3</vt:lpstr>
      <vt:lpstr>Wisp</vt:lpstr>
      <vt:lpstr>PowerPoint Presentation</vt:lpstr>
      <vt:lpstr>Networking Fundamentals</vt:lpstr>
      <vt:lpstr>Types of Network           </vt:lpstr>
      <vt:lpstr>IP Addressing</vt:lpstr>
      <vt:lpstr>HTTP/HTTPS Protocols</vt:lpstr>
      <vt:lpstr>  Complete Network and Topology Using Packet Tracer</vt:lpstr>
      <vt:lpstr>Core Internet Technologies</vt:lpstr>
      <vt:lpstr>                     OSI Model</vt:lpstr>
      <vt:lpstr>                         TCP/IP Model</vt:lpstr>
      <vt:lpstr>                 Ports and Services</vt:lpstr>
      <vt:lpstr>                                 DNS</vt:lpstr>
      <vt:lpstr>         Network Routing &amp; Communication </vt:lpstr>
      <vt:lpstr>DHCP — Dynamic Host Configuration Protocol</vt:lpstr>
      <vt:lpstr>NAT — Network Address Translation</vt:lpstr>
      <vt:lpstr>                  Routing Protocols</vt:lpstr>
      <vt:lpstr>   OSPF — Open Shortest Path First</vt:lpstr>
      <vt:lpstr>BGP — Border Gateway Protocol</vt:lpstr>
      <vt:lpstr>DHCP HHTP DNS configuration in cisco packet tracer</vt:lpstr>
      <vt:lpstr>Router      server to ip 0            server 1            server 2 </vt:lpstr>
      <vt:lpstr>               Router IP Configuration       Router                                        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77</cp:revision>
  <dcterms:created xsi:type="dcterms:W3CDTF">2026-10-01T13:30:45Z</dcterms:created>
  <dcterms:modified xsi:type="dcterms:W3CDTF">2026-10-03T17:31:14Z</dcterms:modified>
</cp:coreProperties>
</file>